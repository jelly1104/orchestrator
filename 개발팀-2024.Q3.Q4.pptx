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3" r:id="rId2"/>
    <p:sldId id="343" r:id="rId3"/>
    <p:sldId id="344" r:id="rId4"/>
    <p:sldId id="345" r:id="rId5"/>
    <p:sldId id="334" r:id="rId6"/>
    <p:sldId id="335" r:id="rId7"/>
    <p:sldId id="336" r:id="rId8"/>
    <p:sldId id="341" r:id="rId9"/>
    <p:sldId id="333" r:id="rId10"/>
    <p:sldId id="339" r:id="rId11"/>
    <p:sldId id="338" r:id="rId12"/>
    <p:sldId id="279" r:id="rId1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보통 스타일 1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8" autoAdjust="0"/>
    <p:restoredTop sz="87679" autoAdjust="0"/>
  </p:normalViewPr>
  <p:slideViewPr>
    <p:cSldViewPr snapToGrid="0">
      <p:cViewPr>
        <p:scale>
          <a:sx n="125" d="100"/>
          <a:sy n="125" d="100"/>
        </p:scale>
        <p:origin x="948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877E9C-3C2C-4E7C-B079-E7C789ADE30C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4CDE9-4539-462E-8299-8AE00A8813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640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4CDE9-4539-462E-8299-8AE00A88131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1096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4CDE9-4539-462E-8299-8AE00A88131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851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9DBCC-5565-3734-C6BE-2E536CD31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55E07E-0E26-FFF8-F4BF-66353D222D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755CED-683A-CD44-862A-164A7502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C620AF-F0C4-49AA-5153-F1CB01331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1EA67B-8927-FDE3-C3E7-CF4D91C3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686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1117F-6B66-9828-31C0-95A52CE60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793F33-7DB7-A8CE-B95C-D3FC05B68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5978D6-73EC-B995-4E26-397719D52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E2D671-9F8C-F85D-46A1-98CDA6B5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70EB9-B902-150D-985E-01DF710E7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55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4AEE7-5EBD-EEB3-916A-66FD7E20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A536E8-173A-2D6F-9E86-0CFECAAF9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2004CF-B0ED-645F-33DE-72F36BED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074072-F32B-734E-EB2D-FBAAA2999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740A21-8B8C-3403-9151-C7D3F40E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7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B0A1BF-7B8B-9A2B-9EFA-74E8BD83D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30347-A597-EA85-F508-3101BC00F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48F406F-2ABE-79D6-A8B5-C6588364A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B6A2EA-1D72-0037-BA44-65ECB00B6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8E5B57-8DE2-21A1-A99F-45A26BEC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4A9E63-0638-5EBD-779E-794233348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692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C211C0-BF88-8F66-805A-AE76F57A5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A76E80-9A19-7683-CC88-DA6E14FB2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5F69C8-F399-B9E1-C4FB-44C126228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B4F8EA-7664-3FCE-B53C-5F6C070E2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F7A3BC-B27F-045F-C446-D8FEB9BBCB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24FFDC-7DE0-B89F-1E06-062E08504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70E078-5B9D-65B1-33B0-7C8C65054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CEC3B4-566E-5BCF-9D22-2A6BDFDE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79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9DD4E-C466-2B25-1BA3-8DC40072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8783A6-5E40-6961-364A-D016CBC72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458BCF8-B062-55BE-FA64-490E22B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4300E7-ED20-A6C7-7B5F-6395186B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623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845748C-CF67-6051-A624-F8F37462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F334446-D4F9-53AF-FB77-078D3DAE6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B102CC-4BF6-C9FF-2035-332DB01A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477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F1DC1-0319-E2DC-BC37-CB09249FB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D2B063-84B4-7E05-0020-8CC9D8478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134B1B-27EB-6E96-61A4-6507995D7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B06E1A-E6CB-E273-1051-6F48EFB59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AF34F7-D428-DB39-3A2B-D1F41D42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6D31AD-8053-FBA3-85CB-47922859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8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09BB1-BC99-463C-65A0-6929ADF61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998F93-3C14-8425-1DB5-C823047157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97D176-1159-F0FE-BB43-953CD0968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01952E-0B1E-E71B-57F0-475E0D54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04C8E8-027B-6281-B7B0-C4092603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66FF3B-E50A-56BC-6410-01DF4B11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312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D2A6B-36AA-6E96-24BA-A0A52844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84470F-173B-9C86-82A0-777196166D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2138F1-F36C-FF95-0125-B4A25BAFE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29B585-07E6-DEE0-68FA-BAE35C26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9D7F9D-D35D-160C-62FF-ED755ABBF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69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867B9E6-87CF-CD0E-AD4B-1CD9C59FE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42A792-33B0-103D-2310-B87C29EA61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EE01F0-6ECB-3E66-9547-29ED2B6A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A623E-0C76-4B89-BBC9-5032BFD5F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C88110-858E-B6B1-D208-0A3A11728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43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3AB9B5-2250-A4B9-BF36-73B3153F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DB18AC-3C4E-0354-B232-71F162D1B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EDA74B-3447-B483-B586-9B1AF253D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CF9A8-D865-4958-9708-6182961F0841}" type="datetimeFigureOut">
              <a:rPr lang="ko-KR" altLang="en-US" smtClean="0"/>
              <a:t>2025-01-06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065F16-C8C5-5DD7-5C98-A099EA21C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67B20-4898-313C-CA2D-425DCC8EFF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C0FA7-A0DA-497B-AB00-7B6363E189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19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E8B987-121B-7304-06E4-79EA124D0D9C}"/>
              </a:ext>
            </a:extLst>
          </p:cNvPr>
          <p:cNvSpPr txBox="1"/>
          <p:nvPr/>
        </p:nvSpPr>
        <p:spPr>
          <a:xfrm>
            <a:off x="0" y="1768480"/>
            <a:ext cx="12192000" cy="1447576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txBody>
          <a:bodyPr wrap="square">
            <a:spAutoFit/>
          </a:bodyPr>
          <a:lstStyle/>
          <a:p>
            <a:pPr marL="857250" indent="-857250"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>
              <a:solidFill>
                <a:schemeClr val="tx2">
                  <a:lumMod val="10000"/>
                  <a:lumOff val="90000"/>
                </a:schemeClr>
              </a:solidFill>
              <a:latin typeface="+mn-ea"/>
              <a:ea typeface="+mn-ea"/>
            </a:endParaRPr>
          </a:p>
          <a:p>
            <a:pPr marL="857250" indent="-857250"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2000">
                <a:solidFill>
                  <a:schemeClr val="tx2">
                    <a:lumMod val="10000"/>
                    <a:lumOff val="90000"/>
                  </a:schemeClr>
                </a:solidFill>
                <a:latin typeface="+mn-ea"/>
                <a:ea typeface="+mn-ea"/>
              </a:rPr>
              <a:t>개발팀</a:t>
            </a:r>
            <a:endParaRPr kumimoji="0" lang="en-US" altLang="ko-KR" sz="2000">
              <a:solidFill>
                <a:schemeClr val="tx2">
                  <a:lumMod val="10000"/>
                  <a:lumOff val="90000"/>
                </a:schemeClr>
              </a:solidFill>
              <a:latin typeface="+mn-ea"/>
              <a:ea typeface="+mn-ea"/>
            </a:endParaRPr>
          </a:p>
          <a:p>
            <a:pPr marL="857250" indent="-857250"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2000">
                <a:solidFill>
                  <a:schemeClr val="tx2">
                    <a:lumMod val="10000"/>
                    <a:lumOff val="90000"/>
                  </a:schemeClr>
                </a:solidFill>
                <a:latin typeface="+mn-ea"/>
              </a:rPr>
              <a:t>Q3 </a:t>
            </a:r>
            <a:r>
              <a:rPr lang="ko-KR" altLang="en-US" sz="2000">
                <a:solidFill>
                  <a:schemeClr val="tx2">
                    <a:lumMod val="10000"/>
                    <a:lumOff val="90000"/>
                  </a:schemeClr>
                </a:solidFill>
                <a:latin typeface="+mn-ea"/>
              </a:rPr>
              <a:t>결과</a:t>
            </a:r>
            <a:r>
              <a:rPr lang="en-US" altLang="ko-KR" sz="2000">
                <a:solidFill>
                  <a:schemeClr val="tx2">
                    <a:lumMod val="10000"/>
                    <a:lumOff val="90000"/>
                  </a:schemeClr>
                </a:solidFill>
                <a:latin typeface="+mn-ea"/>
              </a:rPr>
              <a:t>, Q4 </a:t>
            </a:r>
            <a:r>
              <a:rPr lang="ko-KR" altLang="en-US" sz="2000">
                <a:solidFill>
                  <a:schemeClr val="tx2">
                    <a:lumMod val="10000"/>
                    <a:lumOff val="90000"/>
                  </a:schemeClr>
                </a:solidFill>
                <a:latin typeface="+mn-ea"/>
              </a:rPr>
              <a:t>계획</a:t>
            </a:r>
            <a:endParaRPr kumimoji="0" lang="en-US" altLang="ko-KR" sz="2000">
              <a:solidFill>
                <a:schemeClr val="tx2">
                  <a:lumMod val="10000"/>
                  <a:lumOff val="90000"/>
                </a:schemeClr>
              </a:solidFill>
              <a:latin typeface="+mn-ea"/>
              <a:ea typeface="+mn-ea"/>
            </a:endParaRPr>
          </a:p>
          <a:p>
            <a:pPr marL="857250" indent="-857250" algn="ctr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1000" dirty="0">
              <a:solidFill>
                <a:schemeClr val="tx2">
                  <a:lumMod val="10000"/>
                  <a:lumOff val="9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930F5D30-7964-E79D-EC0B-54BEA71C7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58806"/>
            <a:ext cx="12192000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1400">
                <a:solidFill>
                  <a:srgbClr val="000000"/>
                </a:solidFill>
                <a:latin typeface="+mn-ea"/>
                <a:cs typeface="Arial" pitchFamily="34" charset="0"/>
              </a:rPr>
              <a:t>개발팀</a:t>
            </a:r>
            <a:endParaRPr kumimoji="0" lang="en-US" altLang="ko-KR" sz="1400" dirty="0">
              <a:solidFill>
                <a:srgbClr val="000000"/>
              </a:solidFill>
              <a:latin typeface="+mn-ea"/>
              <a:ea typeface="+mn-ea"/>
              <a:cs typeface="Arial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0AC6E6F-C88C-7856-D621-6C3BC1708AA5}"/>
              </a:ext>
            </a:extLst>
          </p:cNvPr>
          <p:cNvCxnSpPr>
            <a:cxnSpLocks/>
          </p:cNvCxnSpPr>
          <p:nvPr/>
        </p:nvCxnSpPr>
        <p:spPr>
          <a:xfrm>
            <a:off x="5821892" y="3336755"/>
            <a:ext cx="5482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781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39474938-FC04-ADB2-19C7-4EE9AA50E19D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576CD01-5B96-F226-B89B-B88D07EE3C02}"/>
              </a:ext>
            </a:extLst>
          </p:cNvPr>
          <p:cNvSpPr txBox="1"/>
          <p:nvPr/>
        </p:nvSpPr>
        <p:spPr>
          <a:xfrm>
            <a:off x="366291" y="149350"/>
            <a:ext cx="944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3Q </a:t>
            </a:r>
            <a:r>
              <a:rPr lang="ko-KR" altLang="en-US" sz="1600" b="1"/>
              <a:t>결과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01C96F-83DF-489D-52DF-C131BC3DD6F8}"/>
              </a:ext>
            </a:extLst>
          </p:cNvPr>
          <p:cNvSpPr txBox="1"/>
          <p:nvPr/>
        </p:nvSpPr>
        <p:spPr>
          <a:xfrm>
            <a:off x="822960" y="926052"/>
            <a:ext cx="3337560" cy="4811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300" b="1"/>
              <a:t>PC </a:t>
            </a:r>
            <a:r>
              <a:rPr lang="ko-KR" altLang="en-US" sz="1300" b="1"/>
              <a:t>리뉴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/>
              <a:t>Frontend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en-US" altLang="ko-KR" sz="1200"/>
              <a:t> React Conversion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/>
              <a:t>Backend 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통합 </a:t>
            </a:r>
            <a:r>
              <a:rPr lang="en-US" altLang="ko-KR" sz="1200">
                <a:sym typeface="Wingdings" panose="05000000000000000000" pitchFamily="2" charset="2"/>
              </a:rPr>
              <a:t>API </a:t>
            </a:r>
            <a:r>
              <a:rPr lang="ko-KR" altLang="en-US" sz="1200">
                <a:sym typeface="Wingdings" panose="05000000000000000000" pitchFamily="2" charset="2"/>
              </a:rPr>
              <a:t>구축</a:t>
            </a:r>
            <a:r>
              <a:rPr lang="en-US" altLang="ko-KR" sz="1200">
                <a:sym typeface="Wingdings" panose="05000000000000000000" pitchFamily="2" charset="2"/>
              </a:rPr>
              <a:t>(Java)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(</a:t>
            </a:r>
            <a:r>
              <a:rPr lang="ko-KR" altLang="en-US" sz="1100"/>
              <a:t>공통</a:t>
            </a:r>
            <a:r>
              <a:rPr lang="en-US" altLang="ko-KR" sz="1100"/>
              <a:t>)</a:t>
            </a:r>
            <a:r>
              <a:rPr lang="en-US" altLang="ko-KR" sz="1200"/>
              <a:t> </a:t>
            </a:r>
            <a:r>
              <a:rPr lang="ko-KR" altLang="en-US" sz="1200"/>
              <a:t>프로그램 개선 사항 도출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(</a:t>
            </a:r>
            <a:r>
              <a:rPr lang="ko-KR" altLang="en-US" sz="1100"/>
              <a:t>공통</a:t>
            </a:r>
            <a:r>
              <a:rPr lang="en-US" altLang="ko-KR" sz="1100"/>
              <a:t>)</a:t>
            </a:r>
            <a:r>
              <a:rPr lang="en-US" altLang="ko-KR" sz="1200"/>
              <a:t> </a:t>
            </a:r>
            <a:r>
              <a:rPr lang="ko-KR" altLang="en-US" sz="1200"/>
              <a:t>표준 코드</a:t>
            </a:r>
            <a:r>
              <a:rPr lang="en-US" altLang="ko-KR" sz="1200"/>
              <a:t>, </a:t>
            </a:r>
            <a:r>
              <a:rPr lang="ko-KR" altLang="en-US" sz="1200"/>
              <a:t>컨벤션 등 설계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디자인시스템 구축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커뮤니티 </a:t>
            </a:r>
            <a:r>
              <a:rPr lang="en-US" altLang="ko-KR" sz="1200"/>
              <a:t>&amp; </a:t>
            </a:r>
            <a:r>
              <a:rPr lang="ko-KR" altLang="en-US" sz="1200"/>
              <a:t>공통영역 개발 </a:t>
            </a:r>
            <a:r>
              <a:rPr lang="en-US" altLang="ko-KR" sz="1200"/>
              <a:t>(~12</a:t>
            </a:r>
            <a:r>
              <a:rPr lang="ko-KR" altLang="en-US" sz="1200"/>
              <a:t>월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개원입지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설문 이벤트 </a:t>
            </a:r>
            <a:r>
              <a:rPr lang="en-US" altLang="ko-KR" sz="1200"/>
              <a:t>(11</a:t>
            </a:r>
            <a:r>
              <a:rPr lang="ko-KR" altLang="en-US" sz="1200"/>
              <a:t>월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신한 데이터 적용</a:t>
            </a:r>
            <a:endParaRPr lang="en-US" altLang="ko-KR" sz="1200"/>
          </a:p>
          <a:p>
            <a:pPr>
              <a:lnSpc>
                <a:spcPct val="150000"/>
              </a:lnSpc>
            </a:pPr>
            <a:r>
              <a:rPr lang="en-US" altLang="ko-KR" sz="1200"/>
              <a:t>     - Data</a:t>
            </a:r>
            <a:r>
              <a:rPr lang="ko-KR" altLang="en-US" sz="1200"/>
              <a:t> </a:t>
            </a:r>
            <a:r>
              <a:rPr lang="en-US" altLang="ko-KR" sz="1200"/>
              <a:t>Migration &amp;</a:t>
            </a:r>
            <a:r>
              <a:rPr lang="ko-KR" altLang="en-US" sz="1200"/>
              <a:t> </a:t>
            </a:r>
            <a:r>
              <a:rPr lang="en-US" altLang="ko-KR" sz="1200"/>
              <a:t>API</a:t>
            </a:r>
            <a:r>
              <a:rPr lang="ko-KR" altLang="en-US" sz="1200"/>
              <a:t> 구현 </a:t>
            </a:r>
            <a:r>
              <a:rPr lang="en-US" altLang="ko-KR" sz="1200"/>
              <a:t>(~1</a:t>
            </a:r>
            <a:r>
              <a:rPr lang="ko-KR" altLang="en-US" sz="1200"/>
              <a:t>월</a:t>
            </a:r>
            <a:r>
              <a:rPr lang="en-US" altLang="ko-KR" sz="120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200"/>
              <a:t>     </a:t>
            </a:r>
            <a:r>
              <a:rPr lang="en-US" altLang="ko-KR" sz="1200"/>
              <a:t>- </a:t>
            </a:r>
            <a:r>
              <a:rPr lang="ko-KR" altLang="en-US" sz="1200"/>
              <a:t>대표과목 재분류 </a:t>
            </a:r>
            <a:r>
              <a:rPr lang="en-US" altLang="ko-KR" sz="1200"/>
              <a:t>(~1</a:t>
            </a:r>
            <a:r>
              <a:rPr lang="ko-KR" altLang="en-US" sz="1200"/>
              <a:t>월</a:t>
            </a:r>
            <a:r>
              <a:rPr lang="en-US" altLang="ko-KR" sz="1200"/>
              <a:t>)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31C0C78D-DB2F-867A-6474-37FC4E650D32}"/>
              </a:ext>
            </a:extLst>
          </p:cNvPr>
          <p:cNvCxnSpPr>
            <a:cxnSpLocks/>
          </p:cNvCxnSpPr>
          <p:nvPr/>
        </p:nvCxnSpPr>
        <p:spPr>
          <a:xfrm>
            <a:off x="9144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27698E0F-819A-F342-19C6-4C0B258E528A}"/>
              </a:ext>
            </a:extLst>
          </p:cNvPr>
          <p:cNvSpPr txBox="1"/>
          <p:nvPr/>
        </p:nvSpPr>
        <p:spPr>
          <a:xfrm>
            <a:off x="4335780" y="928954"/>
            <a:ext cx="3185160" cy="4705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초빙정보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쿠폰 자동 발행 </a:t>
            </a:r>
            <a:r>
              <a:rPr lang="en-US" altLang="ko-KR" sz="1100"/>
              <a:t>(</a:t>
            </a:r>
            <a:r>
              <a:rPr lang="ko-KR" altLang="en-US" sz="1100"/>
              <a:t>프리미엄 상위 상품</a:t>
            </a:r>
            <a:r>
              <a:rPr lang="en-US" altLang="ko-KR" sz="11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상품 등록 조건 변경 </a:t>
            </a:r>
            <a:r>
              <a:rPr lang="en-US" altLang="ko-KR" sz="1200"/>
              <a:t>- </a:t>
            </a:r>
            <a:r>
              <a:rPr lang="ko-KR" altLang="en-US" sz="1200"/>
              <a:t>무료</a:t>
            </a:r>
            <a:r>
              <a:rPr lang="en-US" altLang="ko-KR" sz="1200"/>
              <a:t>/</a:t>
            </a:r>
            <a:r>
              <a:rPr lang="ko-KR" altLang="en-US" sz="1200"/>
              <a:t>임상외</a:t>
            </a:r>
            <a:r>
              <a:rPr lang="en-US" altLang="ko-KR" sz="1200"/>
              <a:t> </a:t>
            </a:r>
            <a:r>
              <a:rPr lang="ko-KR" altLang="en-US" sz="1200"/>
              <a:t>등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환불 </a:t>
            </a:r>
            <a:r>
              <a:rPr lang="en-US" altLang="ko-KR" sz="1200"/>
              <a:t>&amp; OPT-IN </a:t>
            </a:r>
            <a:r>
              <a:rPr lang="ko-KR" altLang="en-US" sz="1200"/>
              <a:t>기능 추가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7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임대분양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상품 개선 </a:t>
            </a:r>
            <a:br>
              <a:rPr lang="en-US" altLang="ko-KR" sz="1200"/>
            </a:br>
            <a:r>
              <a:rPr lang="en-US" altLang="ko-KR" sz="1200"/>
              <a:t>- </a:t>
            </a:r>
            <a:r>
              <a:rPr lang="ko-KR" altLang="en-US" sz="1200"/>
              <a:t>일반 유료 상품 추가</a:t>
            </a:r>
            <a:endParaRPr lang="en-US" altLang="ko-KR" sz="1200"/>
          </a:p>
          <a:p>
            <a:pPr>
              <a:lnSpc>
                <a:spcPct val="150000"/>
              </a:lnSpc>
            </a:pPr>
            <a:r>
              <a:rPr lang="en-US" altLang="ko-KR" sz="1200"/>
              <a:t>     - </a:t>
            </a:r>
            <a:r>
              <a:rPr lang="ko-KR" altLang="en-US" sz="1200"/>
              <a:t>상품 기간</a:t>
            </a:r>
            <a:r>
              <a:rPr lang="en-US" altLang="ko-KR" sz="1200"/>
              <a:t>/</a:t>
            </a:r>
            <a:r>
              <a:rPr lang="ko-KR" altLang="en-US" sz="1200"/>
              <a:t>비용 변경</a:t>
            </a:r>
            <a:r>
              <a:rPr lang="en-US" altLang="ko-KR" sz="1200"/>
              <a:t>, OPT-IN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90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B8F99891-BE40-A83B-64A4-80E5FCE1EEF7}"/>
              </a:ext>
            </a:extLst>
          </p:cNvPr>
          <p:cNvCxnSpPr>
            <a:cxnSpLocks/>
          </p:cNvCxnSpPr>
          <p:nvPr/>
        </p:nvCxnSpPr>
        <p:spPr>
          <a:xfrm>
            <a:off x="4427220" y="142022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F7473FF-482A-8CA3-2D8F-7C5DF706926C}"/>
              </a:ext>
            </a:extLst>
          </p:cNvPr>
          <p:cNvCxnSpPr>
            <a:cxnSpLocks/>
          </p:cNvCxnSpPr>
          <p:nvPr/>
        </p:nvCxnSpPr>
        <p:spPr>
          <a:xfrm>
            <a:off x="914400" y="443774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192AB70-5AEE-2F9C-150D-13A89B62A1D7}"/>
              </a:ext>
            </a:extLst>
          </p:cNvPr>
          <p:cNvCxnSpPr>
            <a:cxnSpLocks/>
          </p:cNvCxnSpPr>
          <p:nvPr/>
        </p:nvCxnSpPr>
        <p:spPr>
          <a:xfrm>
            <a:off x="4335780" y="4433024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DF9DCDC-F777-8574-2BFE-453956C37B49}"/>
              </a:ext>
            </a:extLst>
          </p:cNvPr>
          <p:cNvSpPr txBox="1"/>
          <p:nvPr/>
        </p:nvSpPr>
        <p:spPr>
          <a:xfrm>
            <a:off x="7947660" y="926052"/>
            <a:ext cx="3185160" cy="3934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300" b="1"/>
              <a:t>AI </a:t>
            </a:r>
            <a:r>
              <a:rPr lang="ko-KR" altLang="en-US" sz="1300" b="1"/>
              <a:t>지원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OpenSearch </a:t>
            </a:r>
            <a:r>
              <a:rPr lang="ko-KR" altLang="en-US" sz="1200"/>
              <a:t>시스템</a:t>
            </a:r>
            <a:r>
              <a:rPr lang="en-US" altLang="ko-KR" sz="1200"/>
              <a:t> </a:t>
            </a:r>
            <a:r>
              <a:rPr lang="ko-KR" altLang="en-US" sz="1200"/>
              <a:t>구성 </a:t>
            </a:r>
            <a:r>
              <a:rPr lang="en-US" altLang="ko-KR" sz="1100"/>
              <a:t>(AWS)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RAG </a:t>
            </a:r>
            <a:r>
              <a:rPr lang="ko-KR" altLang="en-US" sz="1200"/>
              <a:t>구성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알림톡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알림톡 </a:t>
            </a:r>
            <a:r>
              <a:rPr lang="en-US" altLang="ko-KR" sz="1200"/>
              <a:t>Agent</a:t>
            </a:r>
            <a:r>
              <a:rPr lang="ko-KR" altLang="en-US" sz="1200"/>
              <a:t> 업그레이드</a:t>
            </a:r>
            <a:endParaRPr lang="en-US" altLang="ko-KR" sz="10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알림톡 관리 </a:t>
            </a:r>
            <a:r>
              <a:rPr lang="en-US" altLang="ko-KR" sz="1200"/>
              <a:t>Admin </a:t>
            </a:r>
            <a:r>
              <a:rPr lang="ko-KR" altLang="en-US" sz="1200"/>
              <a:t>개발</a:t>
            </a:r>
            <a:endParaRPr lang="en-US" altLang="ko-KR" sz="8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개원올인원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포스트 이벤트</a:t>
            </a:r>
            <a:endParaRPr lang="en-US" altLang="ko-KR" sz="120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2B7748F-9201-7927-3CFB-CA90C9EC07F4}"/>
              </a:ext>
            </a:extLst>
          </p:cNvPr>
          <p:cNvCxnSpPr>
            <a:cxnSpLocks/>
          </p:cNvCxnSpPr>
          <p:nvPr/>
        </p:nvCxnSpPr>
        <p:spPr>
          <a:xfrm>
            <a:off x="80391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9C7115C-084E-7F7C-77B1-A4072772BF0F}"/>
              </a:ext>
            </a:extLst>
          </p:cNvPr>
          <p:cNvCxnSpPr>
            <a:cxnSpLocks/>
          </p:cNvCxnSpPr>
          <p:nvPr/>
        </p:nvCxnSpPr>
        <p:spPr>
          <a:xfrm>
            <a:off x="8039100" y="284516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AA35F84-8A47-8DD9-4646-ADBBAC39A9F9}"/>
              </a:ext>
            </a:extLst>
          </p:cNvPr>
          <p:cNvCxnSpPr>
            <a:cxnSpLocks/>
          </p:cNvCxnSpPr>
          <p:nvPr/>
        </p:nvCxnSpPr>
        <p:spPr>
          <a:xfrm>
            <a:off x="8039100" y="443774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53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549E1E-EB03-24E0-D178-80A699A162BC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0A447AB-E5DF-2225-4103-0E6F1225AAD4}"/>
              </a:ext>
            </a:extLst>
          </p:cNvPr>
          <p:cNvSpPr txBox="1"/>
          <p:nvPr/>
        </p:nvSpPr>
        <p:spPr>
          <a:xfrm>
            <a:off x="366291" y="149350"/>
            <a:ext cx="9541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4Q Plan</a:t>
            </a:r>
            <a:endParaRPr lang="ko-KR" altLang="en-US" sz="16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9F387-40CB-F4E9-6E1F-466A33690C54}"/>
              </a:ext>
            </a:extLst>
          </p:cNvPr>
          <p:cNvSpPr txBox="1"/>
          <p:nvPr/>
        </p:nvSpPr>
        <p:spPr>
          <a:xfrm>
            <a:off x="822960" y="926052"/>
            <a:ext cx="3337560" cy="4834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300" b="1"/>
              <a:t>PC </a:t>
            </a:r>
            <a:r>
              <a:rPr lang="ko-KR" altLang="en-US" sz="1300" b="1"/>
              <a:t>리뉴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커뮤니티 </a:t>
            </a:r>
            <a:r>
              <a:rPr lang="en-US" altLang="ko-KR" sz="1200"/>
              <a:t>&amp; </a:t>
            </a:r>
            <a:r>
              <a:rPr lang="ko-KR" altLang="en-US" sz="1200"/>
              <a:t>공통영역 반영 </a:t>
            </a:r>
            <a:r>
              <a:rPr lang="en-US" altLang="ko-KR" sz="1100"/>
              <a:t>(1</a:t>
            </a:r>
            <a:r>
              <a:rPr lang="ko-KR" altLang="en-US" sz="1100"/>
              <a:t>월</a:t>
            </a:r>
            <a:r>
              <a:rPr lang="en-US" altLang="ko-KR" sz="11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푸터 개발 </a:t>
            </a:r>
            <a:r>
              <a:rPr lang="en-US" altLang="ko-KR" sz="1100"/>
              <a:t>(1</a:t>
            </a:r>
            <a:r>
              <a:rPr lang="ko-KR" altLang="en-US" sz="1100"/>
              <a:t>월 개발</a:t>
            </a:r>
            <a:r>
              <a:rPr lang="en-US" altLang="ko-KR" sz="1100"/>
              <a:t>, 2</a:t>
            </a:r>
            <a:r>
              <a:rPr lang="ko-KR" altLang="en-US" sz="1100"/>
              <a:t>월 반영</a:t>
            </a:r>
            <a:r>
              <a:rPr lang="en-US" altLang="ko-KR" sz="11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초빙정보 개발 </a:t>
            </a:r>
            <a:r>
              <a:rPr lang="en-US" altLang="ko-KR" sz="1100"/>
              <a:t>(2</a:t>
            </a:r>
            <a:r>
              <a:rPr lang="ko-KR" altLang="en-US" sz="1100"/>
              <a:t>월</a:t>
            </a:r>
            <a:r>
              <a:rPr lang="en-US" altLang="ko-KR" sz="1100"/>
              <a:t>~)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개원입지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1</a:t>
            </a:r>
            <a:r>
              <a:rPr lang="ko-KR" altLang="en-US" sz="1200"/>
              <a:t>차 </a:t>
            </a:r>
            <a:r>
              <a:rPr lang="en-US" altLang="ko-KR" sz="1200"/>
              <a:t>: </a:t>
            </a:r>
            <a:r>
              <a:rPr lang="ko-KR" altLang="en-US" sz="1200"/>
              <a:t>신한 데이터 적용 </a:t>
            </a:r>
            <a:r>
              <a:rPr lang="en-US" altLang="ko-KR" sz="1100"/>
              <a:t>(1</a:t>
            </a:r>
            <a:r>
              <a:rPr lang="ko-KR" altLang="en-US" sz="1100"/>
              <a:t>월</a:t>
            </a:r>
            <a:r>
              <a:rPr lang="en-US" altLang="ko-KR" sz="11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- Migration &amp;</a:t>
            </a:r>
            <a:r>
              <a:rPr lang="ko-KR" altLang="en-US" sz="1200"/>
              <a:t> </a:t>
            </a:r>
            <a:r>
              <a:rPr lang="en-US" altLang="ko-KR" sz="1200"/>
              <a:t>API</a:t>
            </a:r>
            <a:r>
              <a:rPr lang="ko-KR" altLang="en-US" sz="1200"/>
              <a:t> 개발</a:t>
            </a:r>
            <a:endParaRPr lang="en-US" altLang="ko-KR" sz="1200"/>
          </a:p>
          <a:p>
            <a:pPr>
              <a:lnSpc>
                <a:spcPct val="150000"/>
              </a:lnSpc>
            </a:pPr>
            <a:r>
              <a:rPr lang="ko-KR" altLang="en-US" sz="1200"/>
              <a:t>     </a:t>
            </a:r>
            <a:r>
              <a:rPr lang="en-US" altLang="ko-KR" sz="1200"/>
              <a:t>- </a:t>
            </a:r>
            <a:r>
              <a:rPr lang="ko-KR" altLang="en-US" sz="1200"/>
              <a:t>대표과목 재분류</a:t>
            </a:r>
            <a:endParaRPr lang="en-US" altLang="ko-KR" sz="1200"/>
          </a:p>
          <a:p>
            <a:pPr>
              <a:lnSpc>
                <a:spcPct val="150000"/>
              </a:lnSpc>
            </a:pP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2</a:t>
            </a:r>
            <a:r>
              <a:rPr lang="ko-KR" altLang="en-US" sz="1200"/>
              <a:t>차 </a:t>
            </a:r>
            <a:r>
              <a:rPr lang="en-US" altLang="ko-KR" sz="1100"/>
              <a:t>(2</a:t>
            </a:r>
            <a:r>
              <a:rPr lang="ko-KR" altLang="en-US" sz="1100"/>
              <a:t>월</a:t>
            </a:r>
            <a:r>
              <a:rPr lang="en-US" altLang="ko-KR" sz="11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- </a:t>
            </a:r>
            <a:r>
              <a:rPr lang="ko-KR" altLang="en-US" sz="1200"/>
              <a:t>유무료 리포트 기능 개선</a:t>
            </a:r>
            <a:endParaRPr lang="en-US" altLang="ko-KR" sz="1200"/>
          </a:p>
          <a:p>
            <a:pPr>
              <a:lnSpc>
                <a:spcPct val="150000"/>
              </a:lnSpc>
            </a:pPr>
            <a:r>
              <a:rPr lang="en-US" altLang="ko-KR" sz="1200"/>
              <a:t>     - </a:t>
            </a:r>
            <a:r>
              <a:rPr lang="ko-KR" altLang="en-US" sz="1200"/>
              <a:t>이벤트</a:t>
            </a:r>
            <a:endParaRPr lang="en-US" altLang="ko-KR" sz="1200"/>
          </a:p>
          <a:p>
            <a:pPr>
              <a:lnSpc>
                <a:spcPct val="150000"/>
              </a:lnSpc>
            </a:pPr>
            <a:endParaRPr lang="en-US" altLang="ko-KR" sz="120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71308E7-0B96-2D2B-1E66-2A1E1D8E15FD}"/>
              </a:ext>
            </a:extLst>
          </p:cNvPr>
          <p:cNvCxnSpPr>
            <a:cxnSpLocks/>
          </p:cNvCxnSpPr>
          <p:nvPr/>
        </p:nvCxnSpPr>
        <p:spPr>
          <a:xfrm>
            <a:off x="9144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26035B-B17C-84C0-D34C-AF5E31E80251}"/>
              </a:ext>
            </a:extLst>
          </p:cNvPr>
          <p:cNvSpPr txBox="1"/>
          <p:nvPr/>
        </p:nvSpPr>
        <p:spPr>
          <a:xfrm>
            <a:off x="4358640" y="928954"/>
            <a:ext cx="3185160" cy="392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결제 시스템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매출전표</a:t>
            </a:r>
            <a:r>
              <a:rPr lang="en-US" altLang="ko-KR" sz="1200"/>
              <a:t>, </a:t>
            </a:r>
            <a:r>
              <a:rPr lang="ko-KR" altLang="en-US" sz="1200"/>
              <a:t>현금 영수증 연동 </a:t>
            </a:r>
            <a:r>
              <a:rPr lang="en-US" altLang="ko-KR" sz="1100"/>
              <a:t>(1</a:t>
            </a:r>
            <a:r>
              <a:rPr lang="ko-KR" altLang="en-US" sz="1100"/>
              <a:t>월</a:t>
            </a:r>
            <a:r>
              <a:rPr lang="en-US" altLang="ko-KR" sz="11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200"/>
              <a:t>     </a:t>
            </a:r>
            <a:r>
              <a:rPr lang="en-US" altLang="ko-KR" sz="1100"/>
              <a:t>(</a:t>
            </a:r>
            <a:r>
              <a:rPr lang="ko-KR" altLang="en-US" sz="1100"/>
              <a:t>초빙</a:t>
            </a:r>
            <a:r>
              <a:rPr lang="en-US" altLang="ko-KR" sz="1100"/>
              <a:t>/</a:t>
            </a:r>
            <a:r>
              <a:rPr lang="ko-KR" altLang="en-US" sz="1100"/>
              <a:t>임대</a:t>
            </a:r>
            <a:r>
              <a:rPr lang="en-US" altLang="ko-KR" sz="1100"/>
              <a:t>/</a:t>
            </a:r>
            <a:r>
              <a:rPr lang="ko-KR" altLang="en-US" sz="1100"/>
              <a:t>개원입지</a:t>
            </a:r>
            <a:r>
              <a:rPr lang="en-US" altLang="ko-KR" sz="11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1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간호초빙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인수 인계 </a:t>
            </a:r>
            <a:r>
              <a:rPr lang="en-US" altLang="ko-KR" sz="1100"/>
              <a:t>(3</a:t>
            </a:r>
            <a:r>
              <a:rPr lang="ko-KR" altLang="en-US" sz="1100"/>
              <a:t>월</a:t>
            </a:r>
            <a:r>
              <a:rPr lang="en-US" altLang="ko-KR" sz="11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Maintenance f/u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이벤트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위치기반서비스 신고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90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342DAC7-0602-811C-C8D5-98B9258BB41C}"/>
              </a:ext>
            </a:extLst>
          </p:cNvPr>
          <p:cNvCxnSpPr>
            <a:cxnSpLocks/>
          </p:cNvCxnSpPr>
          <p:nvPr/>
        </p:nvCxnSpPr>
        <p:spPr>
          <a:xfrm>
            <a:off x="4411980" y="142022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AE8B5D0-860B-5A89-DDE3-7A2CD18CFE48}"/>
              </a:ext>
            </a:extLst>
          </p:cNvPr>
          <p:cNvCxnSpPr>
            <a:cxnSpLocks/>
          </p:cNvCxnSpPr>
          <p:nvPr/>
        </p:nvCxnSpPr>
        <p:spPr>
          <a:xfrm>
            <a:off x="4358640" y="3328124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EDFE2D-710D-42C9-D7DC-FDFF92F53F3B}"/>
              </a:ext>
            </a:extLst>
          </p:cNvPr>
          <p:cNvSpPr txBox="1"/>
          <p:nvPr/>
        </p:nvSpPr>
        <p:spPr>
          <a:xfrm>
            <a:off x="7947660" y="926052"/>
            <a:ext cx="3185160" cy="328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b="1"/>
              <a:t>Maintenance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설문조사    </a:t>
            </a:r>
            <a:r>
              <a:rPr lang="en-US" altLang="ko-KR" sz="1200"/>
              <a:t>-</a:t>
            </a:r>
            <a:r>
              <a:rPr lang="ko-KR" altLang="en-US" sz="1200"/>
              <a:t> </a:t>
            </a:r>
            <a:r>
              <a:rPr lang="en-US" altLang="ko-KR" sz="1200"/>
              <a:t>iframe </a:t>
            </a:r>
            <a:r>
              <a:rPr lang="ko-KR" altLang="en-US" sz="1200"/>
              <a:t>보안 이슈 처리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메디캐스트 </a:t>
            </a:r>
            <a:r>
              <a:rPr lang="en-US" altLang="ko-KR" sz="1200"/>
              <a:t>- </a:t>
            </a:r>
            <a:r>
              <a:rPr lang="ko-KR" altLang="en-US" sz="1200"/>
              <a:t>조회수 처리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8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회원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의사 면허인증 </a:t>
            </a:r>
            <a:r>
              <a:rPr lang="en-US" altLang="ko-KR" sz="1200"/>
              <a:t>API </a:t>
            </a:r>
            <a:r>
              <a:rPr lang="ko-KR" altLang="en-US" sz="1200"/>
              <a:t>연동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생일이벤트 </a:t>
            </a:r>
            <a:r>
              <a:rPr lang="en-US" altLang="ko-KR" sz="1200"/>
              <a:t>- </a:t>
            </a:r>
            <a:r>
              <a:rPr lang="ko-KR" altLang="en-US" sz="1200"/>
              <a:t>회원정보 </a:t>
            </a:r>
            <a:r>
              <a:rPr lang="en-US" altLang="ko-KR" sz="1200"/>
              <a:t>cleansing</a:t>
            </a:r>
            <a:endParaRPr lang="en-US" altLang="ko-KR" sz="700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E9DDC91-8397-31A6-C78F-6EB741512F63}"/>
              </a:ext>
            </a:extLst>
          </p:cNvPr>
          <p:cNvCxnSpPr>
            <a:cxnSpLocks/>
          </p:cNvCxnSpPr>
          <p:nvPr/>
        </p:nvCxnSpPr>
        <p:spPr>
          <a:xfrm>
            <a:off x="80391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9943E70-C8A2-E685-0DB3-1248F4AD6A64}"/>
              </a:ext>
            </a:extLst>
          </p:cNvPr>
          <p:cNvCxnSpPr>
            <a:cxnSpLocks/>
          </p:cNvCxnSpPr>
          <p:nvPr/>
        </p:nvCxnSpPr>
        <p:spPr>
          <a:xfrm>
            <a:off x="8039100" y="3328124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2702FC6-7575-2369-94FA-5C16D4EEFEF2}"/>
              </a:ext>
            </a:extLst>
          </p:cNvPr>
          <p:cNvCxnSpPr>
            <a:cxnSpLocks/>
          </p:cNvCxnSpPr>
          <p:nvPr/>
        </p:nvCxnSpPr>
        <p:spPr>
          <a:xfrm>
            <a:off x="914400" y="3328124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152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B7F6A47-232C-B0B9-1785-8CAFA707A6E3}"/>
              </a:ext>
            </a:extLst>
          </p:cNvPr>
          <p:cNvCxnSpPr>
            <a:cxnSpLocks/>
          </p:cNvCxnSpPr>
          <p:nvPr/>
        </p:nvCxnSpPr>
        <p:spPr>
          <a:xfrm>
            <a:off x="5821892" y="3336755"/>
            <a:ext cx="54821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ECD53B-0E4B-7FE9-A300-DC58D8A261BB}"/>
              </a:ext>
            </a:extLst>
          </p:cNvPr>
          <p:cNvSpPr txBox="1"/>
          <p:nvPr/>
        </p:nvSpPr>
        <p:spPr>
          <a:xfrm>
            <a:off x="5274621" y="2074664"/>
            <a:ext cx="16427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>
                <a:latin typeface="+mn-ea"/>
              </a:rPr>
              <a:t>2025</a:t>
            </a:r>
            <a:r>
              <a:rPr lang="ko-KR" altLang="en-US" sz="1800" b="1">
                <a:latin typeface="+mn-ea"/>
              </a:rPr>
              <a:t>년 </a:t>
            </a:r>
            <a:r>
              <a:rPr lang="en-US" altLang="ko-KR" sz="1800" b="1">
                <a:latin typeface="+mn-ea"/>
              </a:rPr>
              <a:t>PLAN</a:t>
            </a:r>
            <a:endParaRPr kumimoji="0" lang="en-US" altLang="ko-KR" sz="1800" b="1">
              <a:latin typeface="+mn-ea"/>
              <a:ea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51C6B4A-6E08-E8C4-460E-389DA9EB739E}"/>
              </a:ext>
            </a:extLst>
          </p:cNvPr>
          <p:cNvCxnSpPr/>
          <p:nvPr/>
        </p:nvCxnSpPr>
        <p:spPr>
          <a:xfrm flipV="1">
            <a:off x="26669" y="1809750"/>
            <a:ext cx="12138660" cy="6858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6F6BB31-98EF-793E-BDC0-7B80606AAB09}"/>
              </a:ext>
            </a:extLst>
          </p:cNvPr>
          <p:cNvCxnSpPr/>
          <p:nvPr/>
        </p:nvCxnSpPr>
        <p:spPr>
          <a:xfrm flipV="1">
            <a:off x="38100" y="2628900"/>
            <a:ext cx="12138660" cy="68580"/>
          </a:xfrm>
          <a:prstGeom prst="line">
            <a:avLst/>
          </a:prstGeom>
          <a:ln w="31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591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4CF550-5386-42AE-852C-2609606188BE}"/>
              </a:ext>
            </a:extLst>
          </p:cNvPr>
          <p:cNvSpPr txBox="1"/>
          <p:nvPr/>
        </p:nvSpPr>
        <p:spPr>
          <a:xfrm>
            <a:off x="343075" y="171758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IT </a:t>
            </a:r>
            <a:r>
              <a:rPr lang="ko-KR" altLang="en-US" sz="1600" b="1"/>
              <a:t>영역별 조직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240AB19-D755-6BB8-82AF-B687A06F72BB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59488CC-661B-74B1-8DA1-7F1B69521357}"/>
              </a:ext>
            </a:extLst>
          </p:cNvPr>
          <p:cNvSpPr/>
          <p:nvPr/>
        </p:nvSpPr>
        <p:spPr>
          <a:xfrm>
            <a:off x="1529552" y="3003847"/>
            <a:ext cx="1497236" cy="40319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BE (backend)</a:t>
            </a:r>
            <a:endParaRPr lang="ko-KR" altLang="en-US" sz="1100" b="1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D083E7-E787-FCA7-20C4-7AF8B46C6173}"/>
              </a:ext>
            </a:extLst>
          </p:cNvPr>
          <p:cNvSpPr/>
          <p:nvPr/>
        </p:nvSpPr>
        <p:spPr>
          <a:xfrm>
            <a:off x="1514384" y="2355775"/>
            <a:ext cx="1497236" cy="40319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FE (frontend)</a:t>
            </a:r>
            <a:endParaRPr lang="ko-KR" altLang="en-US" sz="1100" b="1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733DA62-7A17-9408-DC73-0C3E8AA0D41B}"/>
              </a:ext>
            </a:extLst>
          </p:cNvPr>
          <p:cNvSpPr/>
          <p:nvPr/>
        </p:nvSpPr>
        <p:spPr>
          <a:xfrm>
            <a:off x="1520734" y="3636813"/>
            <a:ext cx="1497236" cy="40319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APP (mobile)</a:t>
            </a:r>
            <a:endParaRPr lang="ko-KR" altLang="en-US" sz="1100" b="1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A6ABB88-2C81-50F9-6DB8-69821C46F9FA}"/>
              </a:ext>
            </a:extLst>
          </p:cNvPr>
          <p:cNvSpPr/>
          <p:nvPr/>
        </p:nvSpPr>
        <p:spPr>
          <a:xfrm>
            <a:off x="4014096" y="3003847"/>
            <a:ext cx="1497236" cy="40319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Database </a:t>
            </a:r>
            <a:r>
              <a:rPr lang="ko-KR" altLang="en-US" sz="1100" b="1"/>
              <a:t>관리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08EACF9-5469-36A6-3738-E22D0879BA25}"/>
              </a:ext>
            </a:extLst>
          </p:cNvPr>
          <p:cNvSpPr/>
          <p:nvPr/>
        </p:nvSpPr>
        <p:spPr>
          <a:xfrm>
            <a:off x="3998928" y="2355775"/>
            <a:ext cx="1497236" cy="40319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시스템 구축</a:t>
            </a:r>
            <a:r>
              <a:rPr lang="en-US" altLang="ko-KR" sz="1100" b="1"/>
              <a:t>/</a:t>
            </a:r>
            <a:r>
              <a:rPr lang="ko-KR" altLang="en-US" sz="1100" b="1"/>
              <a:t>관리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960C7F-742F-1544-A757-9E56CD53B64A}"/>
              </a:ext>
            </a:extLst>
          </p:cNvPr>
          <p:cNvSpPr txBox="1"/>
          <p:nvPr/>
        </p:nvSpPr>
        <p:spPr>
          <a:xfrm>
            <a:off x="1792513" y="1597358"/>
            <a:ext cx="10294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300" b="1">
                <a:solidFill>
                  <a:schemeClr val="accent1">
                    <a:lumMod val="50000"/>
                  </a:schemeClr>
                </a:solidFill>
              </a:rPr>
              <a:t>개발 영역</a:t>
            </a:r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3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29B6F-D5A3-7E4C-847D-E4794C38F3F5}"/>
              </a:ext>
            </a:extLst>
          </p:cNvPr>
          <p:cNvSpPr txBox="1"/>
          <p:nvPr/>
        </p:nvSpPr>
        <p:spPr>
          <a:xfrm>
            <a:off x="4095465" y="1578412"/>
            <a:ext cx="119616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300" b="1">
                <a:solidFill>
                  <a:schemeClr val="accent1">
                    <a:lumMod val="50000"/>
                  </a:schemeClr>
                </a:solidFill>
              </a:rPr>
              <a:t>인프라 영역</a:t>
            </a:r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3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9751915-C4FD-4ED2-4196-9483435F676C}"/>
              </a:ext>
            </a:extLst>
          </p:cNvPr>
          <p:cNvSpPr/>
          <p:nvPr/>
        </p:nvSpPr>
        <p:spPr>
          <a:xfrm>
            <a:off x="6239632" y="2319241"/>
            <a:ext cx="1497236" cy="40318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QA</a:t>
            </a:r>
            <a:endParaRPr lang="ko-KR" altLang="en-US" sz="11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C7B135-55B1-5005-23BB-E336D035B1F5}"/>
              </a:ext>
            </a:extLst>
          </p:cNvPr>
          <p:cNvSpPr txBox="1"/>
          <p:nvPr/>
        </p:nvSpPr>
        <p:spPr>
          <a:xfrm>
            <a:off x="6437354" y="1591560"/>
            <a:ext cx="136287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300" b="1">
                <a:solidFill>
                  <a:schemeClr val="accent1">
                    <a:lumMod val="50000"/>
                  </a:schemeClr>
                </a:solidFill>
              </a:rPr>
              <a:t>품질보증 영역</a:t>
            </a:r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3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0A56BF-1BD1-C68E-DB7C-66292CF1FE8E}"/>
              </a:ext>
            </a:extLst>
          </p:cNvPr>
          <p:cNvSpPr txBox="1"/>
          <p:nvPr/>
        </p:nvSpPr>
        <p:spPr>
          <a:xfrm>
            <a:off x="8884960" y="1573055"/>
            <a:ext cx="10294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(</a:t>
            </a:r>
            <a:r>
              <a:rPr lang="ko-KR" altLang="en-US" sz="1300" b="1">
                <a:solidFill>
                  <a:schemeClr val="accent1">
                    <a:lumMod val="50000"/>
                  </a:schemeClr>
                </a:solidFill>
              </a:rPr>
              <a:t>보안 영역</a:t>
            </a:r>
            <a:r>
              <a:rPr lang="en-US" altLang="ko-KR" sz="1300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ko-KR" altLang="en-US" sz="13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06DE57D-7720-1E16-7576-85F3A97FE7EC}"/>
              </a:ext>
            </a:extLst>
          </p:cNvPr>
          <p:cNvSpPr/>
          <p:nvPr/>
        </p:nvSpPr>
        <p:spPr>
          <a:xfrm>
            <a:off x="8591756" y="2304234"/>
            <a:ext cx="1497236" cy="40318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/>
              <a:t>보안 정책</a:t>
            </a:r>
            <a:r>
              <a:rPr lang="en-US" altLang="ko-KR" sz="1100" b="1"/>
              <a:t>/</a:t>
            </a:r>
            <a:r>
              <a:rPr lang="ko-KR" altLang="en-US" sz="1100" b="1"/>
              <a:t>운영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C406C69-87D6-36D1-F6A9-3D81E7A1B529}"/>
              </a:ext>
            </a:extLst>
          </p:cNvPr>
          <p:cNvSpPr/>
          <p:nvPr/>
        </p:nvSpPr>
        <p:spPr>
          <a:xfrm>
            <a:off x="4005278" y="3636813"/>
            <a:ext cx="1497236" cy="40319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/>
              <a:t>Devops</a:t>
            </a:r>
            <a:endParaRPr lang="ko-KR" altLang="en-US" sz="1100" b="1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09334F7-EDEB-2416-372A-FFB214E52182}"/>
              </a:ext>
            </a:extLst>
          </p:cNvPr>
          <p:cNvSpPr/>
          <p:nvPr/>
        </p:nvSpPr>
        <p:spPr>
          <a:xfrm>
            <a:off x="8606266" y="2932932"/>
            <a:ext cx="1497236" cy="40319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/>
              <a:t>취약점 진단</a:t>
            </a:r>
            <a:br>
              <a:rPr lang="en-US" altLang="ko-KR" sz="1000" b="1"/>
            </a:br>
            <a:r>
              <a:rPr lang="ko-KR" altLang="en-US" sz="1000" b="1"/>
              <a:t>침해 대응</a:t>
            </a:r>
            <a:endParaRPr lang="en-US" altLang="ko-KR" sz="1000" b="1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12CCE9EE-0729-F5A8-D104-27DAFBFEC700}"/>
              </a:ext>
            </a:extLst>
          </p:cNvPr>
          <p:cNvCxnSpPr>
            <a:cxnSpLocks/>
          </p:cNvCxnSpPr>
          <p:nvPr/>
        </p:nvCxnSpPr>
        <p:spPr>
          <a:xfrm flipV="1">
            <a:off x="998220" y="4236245"/>
            <a:ext cx="10035540" cy="60960"/>
          </a:xfrm>
          <a:prstGeom prst="line">
            <a:avLst/>
          </a:prstGeom>
          <a:ln>
            <a:noFill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CABE171-E291-7D17-320E-2A94D572AD52}"/>
              </a:ext>
            </a:extLst>
          </p:cNvPr>
          <p:cNvSpPr txBox="1"/>
          <p:nvPr/>
        </p:nvSpPr>
        <p:spPr>
          <a:xfrm>
            <a:off x="4187696" y="4445741"/>
            <a:ext cx="970137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300" b="1" u="sng"/>
              <a:t>외주</a:t>
            </a:r>
            <a:r>
              <a:rPr lang="en-US" altLang="ko-KR" sz="1300" b="1" u="sng"/>
              <a:t>(</a:t>
            </a:r>
            <a:r>
              <a:rPr lang="ko-KR" altLang="en-US" sz="1300" b="1" u="sng"/>
              <a:t>젠탑</a:t>
            </a:r>
            <a:r>
              <a:rPr lang="en-US" altLang="ko-KR" sz="1300" b="1" u="sng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D94C4-20CD-8EE8-88BB-3975785D673C}"/>
              </a:ext>
            </a:extLst>
          </p:cNvPr>
          <p:cNvSpPr txBox="1"/>
          <p:nvPr/>
        </p:nvSpPr>
        <p:spPr>
          <a:xfrm>
            <a:off x="1905526" y="4448960"/>
            <a:ext cx="684803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300" b="1" u="sng"/>
              <a:t>개발팀</a:t>
            </a:r>
            <a:endParaRPr lang="en-US" altLang="ko-KR" sz="1300" b="1" u="sng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BC4B21-E574-4278-EED7-1254D11445AC}"/>
              </a:ext>
            </a:extLst>
          </p:cNvPr>
          <p:cNvSpPr txBox="1"/>
          <p:nvPr/>
        </p:nvSpPr>
        <p:spPr>
          <a:xfrm>
            <a:off x="6665783" y="4424007"/>
            <a:ext cx="684803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300" b="1" u="sng"/>
              <a:t>기획팀</a:t>
            </a:r>
            <a:endParaRPr lang="en-US" altLang="ko-KR" sz="1300" b="1" u="sn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60037C-6C71-8570-78A6-C4EDF2B7D20A}"/>
              </a:ext>
            </a:extLst>
          </p:cNvPr>
          <p:cNvSpPr txBox="1"/>
          <p:nvPr/>
        </p:nvSpPr>
        <p:spPr>
          <a:xfrm>
            <a:off x="8874566" y="4424007"/>
            <a:ext cx="1196161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300" b="1" u="sng"/>
              <a:t>개발팀 </a:t>
            </a:r>
            <a:r>
              <a:rPr lang="en-US" altLang="ko-KR" sz="1300" b="1" u="sng"/>
              <a:t>(</a:t>
            </a:r>
            <a:r>
              <a:rPr lang="ko-KR" altLang="en-US" sz="1300" b="1" u="sng"/>
              <a:t>젠탑</a:t>
            </a:r>
            <a:r>
              <a:rPr lang="en-US" altLang="ko-KR" sz="1300" b="1" u="sng"/>
              <a:t>)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251C066-9988-42C6-2D4E-66E4DDEFAB15}"/>
              </a:ext>
            </a:extLst>
          </p:cNvPr>
          <p:cNvCxnSpPr>
            <a:cxnSpLocks/>
          </p:cNvCxnSpPr>
          <p:nvPr/>
        </p:nvCxnSpPr>
        <p:spPr>
          <a:xfrm flipV="1">
            <a:off x="990600" y="1957865"/>
            <a:ext cx="10035540" cy="609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58729D5-C4AF-B905-810D-255CB524B39A}"/>
              </a:ext>
            </a:extLst>
          </p:cNvPr>
          <p:cNvSpPr/>
          <p:nvPr/>
        </p:nvSpPr>
        <p:spPr>
          <a:xfrm>
            <a:off x="5260000" y="5921459"/>
            <a:ext cx="1497236" cy="30885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전문 인력 구성됨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EC7BE48-2947-8750-23AE-E3F2C55BF648}"/>
              </a:ext>
            </a:extLst>
          </p:cNvPr>
          <p:cNvSpPr/>
          <p:nvPr/>
        </p:nvSpPr>
        <p:spPr>
          <a:xfrm>
            <a:off x="6926870" y="5921459"/>
            <a:ext cx="1497236" cy="308856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외주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DC69D144-AB5C-26CC-4019-0D92BA82AE8C}"/>
              </a:ext>
            </a:extLst>
          </p:cNvPr>
          <p:cNvSpPr/>
          <p:nvPr/>
        </p:nvSpPr>
        <p:spPr>
          <a:xfrm>
            <a:off x="8606266" y="5900186"/>
            <a:ext cx="1497236" cy="30885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전문 인력 無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A917584-377D-2387-DE3B-D92E420532F3}"/>
              </a:ext>
            </a:extLst>
          </p:cNvPr>
          <p:cNvCxnSpPr>
            <a:cxnSpLocks/>
          </p:cNvCxnSpPr>
          <p:nvPr/>
        </p:nvCxnSpPr>
        <p:spPr>
          <a:xfrm flipV="1">
            <a:off x="1078230" y="4213971"/>
            <a:ext cx="10035540" cy="6096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67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2885B8-6DC2-BACA-4112-A4A5AFC4F3ED}"/>
              </a:ext>
            </a:extLst>
          </p:cNvPr>
          <p:cNvSpPr txBox="1"/>
          <p:nvPr/>
        </p:nvSpPr>
        <p:spPr>
          <a:xfrm>
            <a:off x="343075" y="171758"/>
            <a:ext cx="12827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개발팀 구성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613F1CA-F56C-774F-1BE4-18357B22C755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6D1FBC73-05C0-AA9A-5540-B277B009B5B6}"/>
              </a:ext>
            </a:extLst>
          </p:cNvPr>
          <p:cNvSpPr/>
          <p:nvPr/>
        </p:nvSpPr>
        <p:spPr>
          <a:xfrm>
            <a:off x="5247071" y="1779770"/>
            <a:ext cx="906936" cy="8501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002060"/>
                </a:solidFill>
              </a:rPr>
              <a:t>FE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0C2788F-48FA-4399-6373-801229FAA154}"/>
              </a:ext>
            </a:extLst>
          </p:cNvPr>
          <p:cNvSpPr/>
          <p:nvPr/>
        </p:nvSpPr>
        <p:spPr>
          <a:xfrm>
            <a:off x="2326372" y="1826483"/>
            <a:ext cx="857503" cy="830451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002060"/>
                </a:solidFill>
              </a:rPr>
              <a:t>BE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C847BA-7520-5148-2143-24F9369D613B}"/>
              </a:ext>
            </a:extLst>
          </p:cNvPr>
          <p:cNvSpPr txBox="1"/>
          <p:nvPr/>
        </p:nvSpPr>
        <p:spPr>
          <a:xfrm>
            <a:off x="2403738" y="300545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유재형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A4F212-37C1-B4B8-03CF-81AEF8A1E99C}"/>
              </a:ext>
            </a:extLst>
          </p:cNvPr>
          <p:cNvSpPr txBox="1"/>
          <p:nvPr/>
        </p:nvSpPr>
        <p:spPr>
          <a:xfrm>
            <a:off x="5357835" y="300396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/>
              <a:t>김승환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73E995-DED4-4306-435D-EEF006874C41}"/>
              </a:ext>
            </a:extLst>
          </p:cNvPr>
          <p:cNvSpPr txBox="1"/>
          <p:nvPr/>
        </p:nvSpPr>
        <p:spPr>
          <a:xfrm>
            <a:off x="2403738" y="3468942"/>
            <a:ext cx="646331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서동욱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이재민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최성호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443CAC-6A9A-7DB8-5D5C-BC3713B6C744}"/>
              </a:ext>
            </a:extLst>
          </p:cNvPr>
          <p:cNvSpPr txBox="1"/>
          <p:nvPr/>
        </p:nvSpPr>
        <p:spPr>
          <a:xfrm>
            <a:off x="5357835" y="3467455"/>
            <a:ext cx="646331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김병진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이성찬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최진이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7F3DA3-2CE8-CC43-76F8-F34B8D02C627}"/>
              </a:ext>
            </a:extLst>
          </p:cNvPr>
          <p:cNvSpPr txBox="1"/>
          <p:nvPr/>
        </p:nvSpPr>
        <p:spPr>
          <a:xfrm>
            <a:off x="1989672" y="4648700"/>
            <a:ext cx="1901098" cy="8876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Java(Spring), NodeJs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Report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9CF5AF-DAD0-D362-06C9-F5A9605660D3}"/>
              </a:ext>
            </a:extLst>
          </p:cNvPr>
          <p:cNvSpPr txBox="1"/>
          <p:nvPr/>
        </p:nvSpPr>
        <p:spPr>
          <a:xfrm>
            <a:off x="5017434" y="4692130"/>
            <a:ext cx="2257926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ReactJs</a:t>
            </a:r>
            <a:r>
              <a:rPr lang="en-US" altLang="ko-KR" sz="1100">
                <a:solidFill>
                  <a:schemeClr val="tx2">
                    <a:lumMod val="75000"/>
                  </a:schemeClr>
                </a:solidFill>
              </a:rPr>
              <a:t>(NextJs)</a:t>
            </a: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, Typescript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Publishing </a:t>
            </a:r>
            <a:r>
              <a:rPr lang="en-US" altLang="ko-KR" sz="1100">
                <a:solidFill>
                  <a:schemeClr val="tx2">
                    <a:lumMod val="75000"/>
                  </a:schemeClr>
                </a:solidFill>
              </a:rPr>
              <a:t>(markup, CSS)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53AF05C-32AD-BA3E-7530-C292E8B28722}"/>
              </a:ext>
            </a:extLst>
          </p:cNvPr>
          <p:cNvCxnSpPr>
            <a:cxnSpLocks/>
          </p:cNvCxnSpPr>
          <p:nvPr/>
        </p:nvCxnSpPr>
        <p:spPr>
          <a:xfrm>
            <a:off x="1720690" y="3406140"/>
            <a:ext cx="900827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D306B86D-F827-61ED-B0F5-E6E2834371EC}"/>
              </a:ext>
            </a:extLst>
          </p:cNvPr>
          <p:cNvSpPr/>
          <p:nvPr/>
        </p:nvSpPr>
        <p:spPr>
          <a:xfrm>
            <a:off x="8162749" y="1758849"/>
            <a:ext cx="906936" cy="8501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002060"/>
                </a:solidFill>
              </a:rPr>
              <a:t>APP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4DA81A-995C-E4F8-AB98-CC37086EEAC7}"/>
              </a:ext>
            </a:extLst>
          </p:cNvPr>
          <p:cNvSpPr txBox="1"/>
          <p:nvPr/>
        </p:nvSpPr>
        <p:spPr>
          <a:xfrm>
            <a:off x="7941327" y="4636185"/>
            <a:ext cx="2995820" cy="3348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React native 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</a:rPr>
              <a:t>(AS-IS) </a:t>
            </a:r>
            <a:r>
              <a:rPr lang="en-US" altLang="ko-KR" sz="1200">
                <a:solidFill>
                  <a:schemeClr val="tx2">
                    <a:lumMod val="75000"/>
                  </a:schemeClr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200">
                <a:solidFill>
                  <a:schemeClr val="tx2">
                    <a:lumMod val="75000"/>
                  </a:schemeClr>
                </a:solidFill>
              </a:rPr>
              <a:t>Flutter </a:t>
            </a:r>
            <a:r>
              <a:rPr lang="en-US" altLang="ko-KR" sz="1000">
                <a:solidFill>
                  <a:schemeClr val="tx2">
                    <a:lumMod val="75000"/>
                  </a:schemeClr>
                </a:solidFill>
              </a:rPr>
              <a:t>(TO-BE)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83823A-4CA8-AB56-132D-0359D37A8DF1}"/>
              </a:ext>
            </a:extLst>
          </p:cNvPr>
          <p:cNvSpPr txBox="1"/>
          <p:nvPr/>
        </p:nvSpPr>
        <p:spPr>
          <a:xfrm>
            <a:off x="8162749" y="3031629"/>
            <a:ext cx="843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/>
              <a:t>   (</a:t>
            </a:r>
            <a:r>
              <a:rPr lang="ko-KR" altLang="en-US" sz="1100"/>
              <a:t>김승환</a:t>
            </a:r>
            <a:r>
              <a:rPr lang="en-US" altLang="ko-KR" sz="1100"/>
              <a:t>)</a:t>
            </a:r>
            <a:endParaRPr lang="ko-KR" altLang="en-US" sz="110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25D195EC-67A7-29F4-0D6F-C78962CA64BC}"/>
              </a:ext>
            </a:extLst>
          </p:cNvPr>
          <p:cNvCxnSpPr>
            <a:cxnSpLocks/>
          </p:cNvCxnSpPr>
          <p:nvPr/>
        </p:nvCxnSpPr>
        <p:spPr>
          <a:xfrm flipV="1">
            <a:off x="1720690" y="4454850"/>
            <a:ext cx="9008270" cy="5834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CE28588-4006-22F4-1B1E-FE361454C6D8}"/>
              </a:ext>
            </a:extLst>
          </p:cNvPr>
          <p:cNvSpPr txBox="1"/>
          <p:nvPr/>
        </p:nvSpPr>
        <p:spPr>
          <a:xfrm>
            <a:off x="9415116" y="3784301"/>
            <a:ext cx="106631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2">
                    <a:lumMod val="75000"/>
                  </a:schemeClr>
                </a:solidFill>
              </a:rPr>
              <a:t>APP </a:t>
            </a:r>
            <a:r>
              <a:rPr lang="ko-KR" altLang="en-US" sz="1300" b="1">
                <a:solidFill>
                  <a:schemeClr val="accent2">
                    <a:lumMod val="75000"/>
                  </a:schemeClr>
                </a:solidFill>
              </a:rPr>
              <a:t>고도화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150D6F-0237-5DA4-E81F-1E13AC912FFE}"/>
              </a:ext>
            </a:extLst>
          </p:cNvPr>
          <p:cNvSpPr txBox="1"/>
          <p:nvPr/>
        </p:nvSpPr>
        <p:spPr>
          <a:xfrm>
            <a:off x="9439237" y="3020138"/>
            <a:ext cx="106150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/>
              <a:t>(Hybrid APP)</a:t>
            </a:r>
            <a:endParaRPr lang="ko-KR" altLang="en-US" sz="1100" b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E90CF3-F362-7EFA-F00C-19512F4CA0BB}"/>
              </a:ext>
            </a:extLst>
          </p:cNvPr>
          <p:cNvSpPr txBox="1"/>
          <p:nvPr/>
        </p:nvSpPr>
        <p:spPr>
          <a:xfrm>
            <a:off x="8112962" y="3570285"/>
            <a:ext cx="1217000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u="sng"/>
              <a:t>앱 개발자</a:t>
            </a:r>
            <a:r>
              <a:rPr lang="en-US" altLang="ko-KR" sz="1200" b="1" u="sng"/>
              <a:t> </a:t>
            </a:r>
            <a:r>
              <a:rPr lang="ko-KR" altLang="en-US" sz="1200" b="1" u="sng"/>
              <a:t>채용</a:t>
            </a:r>
            <a:endParaRPr lang="en-US" altLang="ko-KR" sz="1200" b="1" u="sng"/>
          </a:p>
          <a:p>
            <a:pPr>
              <a:lnSpc>
                <a:spcPct val="150000"/>
              </a:lnSpc>
            </a:pPr>
            <a:r>
              <a:rPr lang="en-US" altLang="ko-KR" sz="1100"/>
              <a:t>    (</a:t>
            </a:r>
            <a:r>
              <a:rPr lang="ko-KR" altLang="en-US" sz="1100"/>
              <a:t>이성찬</a:t>
            </a:r>
            <a:r>
              <a:rPr lang="en-US" altLang="ko-KR" sz="1100"/>
              <a:t>)</a:t>
            </a:r>
            <a:endParaRPr lang="ko-KR" altLang="en-US" sz="11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A7F188-4AED-FE92-37B6-6D9F3F9D4B3A}"/>
              </a:ext>
            </a:extLst>
          </p:cNvPr>
          <p:cNvSpPr txBox="1"/>
          <p:nvPr/>
        </p:nvSpPr>
        <p:spPr>
          <a:xfrm>
            <a:off x="3794609" y="2993633"/>
            <a:ext cx="8186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(LEADER)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21E793-0E5D-7E8A-C63A-9378E544DF80}"/>
              </a:ext>
            </a:extLst>
          </p:cNvPr>
          <p:cNvSpPr txBox="1"/>
          <p:nvPr/>
        </p:nvSpPr>
        <p:spPr>
          <a:xfrm>
            <a:off x="3794609" y="3798494"/>
            <a:ext cx="904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</a:rPr>
              <a:t>(MEMBER)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755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65A1E1-CA68-7DC1-C5D3-83DFE522B6F4}"/>
              </a:ext>
            </a:extLst>
          </p:cNvPr>
          <p:cNvSpPr txBox="1"/>
          <p:nvPr/>
        </p:nvSpPr>
        <p:spPr>
          <a:xfrm>
            <a:off x="343075" y="171758"/>
            <a:ext cx="17652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/>
              <a:t>개발팀 업무 분장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B271199-DBDA-8422-B43E-6E871CC15682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id="{EB697A13-CEEB-A546-2121-75BC68102465}"/>
              </a:ext>
            </a:extLst>
          </p:cNvPr>
          <p:cNvSpPr/>
          <p:nvPr/>
        </p:nvSpPr>
        <p:spPr>
          <a:xfrm>
            <a:off x="4826068" y="1771983"/>
            <a:ext cx="906936" cy="850123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002060"/>
                </a:solidFill>
              </a:rPr>
              <a:t>FE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84F485B7-D2A7-EF37-BE99-AA148FAAFB1B}"/>
              </a:ext>
            </a:extLst>
          </p:cNvPr>
          <p:cNvSpPr/>
          <p:nvPr/>
        </p:nvSpPr>
        <p:spPr>
          <a:xfrm>
            <a:off x="3190638" y="1771983"/>
            <a:ext cx="857503" cy="830451"/>
          </a:xfrm>
          <a:prstGeom prst="ellipse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002060"/>
                </a:solidFill>
              </a:rPr>
              <a:t>BE</a:t>
            </a:r>
            <a:endParaRPr lang="ko-KR" altLang="en-US" b="1">
              <a:solidFill>
                <a:srgbClr val="00206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F0B26F-6834-51DA-4B93-645896A6366E}"/>
              </a:ext>
            </a:extLst>
          </p:cNvPr>
          <p:cNvSpPr txBox="1"/>
          <p:nvPr/>
        </p:nvSpPr>
        <p:spPr>
          <a:xfrm>
            <a:off x="3286632" y="2937694"/>
            <a:ext cx="646331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유재형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서동욱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7AD718-C4E3-2C21-CF32-8A2C31C36711}"/>
              </a:ext>
            </a:extLst>
          </p:cNvPr>
          <p:cNvSpPr txBox="1"/>
          <p:nvPr/>
        </p:nvSpPr>
        <p:spPr>
          <a:xfrm>
            <a:off x="3248532" y="4127333"/>
            <a:ext cx="646331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이재민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최성호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7F5687-DAA2-8D41-EF84-1D7BB16206B4}"/>
              </a:ext>
            </a:extLst>
          </p:cNvPr>
          <p:cNvSpPr txBox="1"/>
          <p:nvPr/>
        </p:nvSpPr>
        <p:spPr>
          <a:xfrm>
            <a:off x="1509314" y="3157179"/>
            <a:ext cx="141256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2">
                    <a:lumMod val="75000"/>
                  </a:schemeClr>
                </a:solidFill>
              </a:rPr>
              <a:t>MAINTENANCE</a:t>
            </a:r>
            <a:endParaRPr lang="ko-KR" altLang="en-US" sz="1300" b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4F53EC-2985-73C3-F1F9-C6A845FFE894}"/>
              </a:ext>
            </a:extLst>
          </p:cNvPr>
          <p:cNvSpPr txBox="1"/>
          <p:nvPr/>
        </p:nvSpPr>
        <p:spPr>
          <a:xfrm>
            <a:off x="1674198" y="4294309"/>
            <a:ext cx="78579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b="1">
                <a:solidFill>
                  <a:schemeClr val="accent2">
                    <a:lumMod val="75000"/>
                  </a:schemeClr>
                </a:solidFill>
              </a:rPr>
              <a:t>PC </a:t>
            </a:r>
            <a:r>
              <a:rPr lang="ko-KR" altLang="en-US" sz="1300" b="1">
                <a:solidFill>
                  <a:schemeClr val="accent2">
                    <a:lumMod val="75000"/>
                  </a:schemeClr>
                </a:solidFill>
              </a:rPr>
              <a:t>리뉴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63A77D6-A577-525A-A592-7F6CE24DC5C8}"/>
              </a:ext>
            </a:extLst>
          </p:cNvPr>
          <p:cNvSpPr txBox="1"/>
          <p:nvPr/>
        </p:nvSpPr>
        <p:spPr>
          <a:xfrm>
            <a:off x="4958278" y="2922052"/>
            <a:ext cx="646331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김승환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최진이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5D69C3-1F6B-3D3D-85D0-02491A108CCC}"/>
              </a:ext>
            </a:extLst>
          </p:cNvPr>
          <p:cNvSpPr txBox="1"/>
          <p:nvPr/>
        </p:nvSpPr>
        <p:spPr>
          <a:xfrm>
            <a:off x="4956371" y="4119955"/>
            <a:ext cx="646331" cy="6106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/>
              <a:t>김병진</a:t>
            </a:r>
            <a:endParaRPr lang="en-US" altLang="ko-KR" sz="1200" b="1"/>
          </a:p>
          <a:p>
            <a:pPr>
              <a:lnSpc>
                <a:spcPct val="150000"/>
              </a:lnSpc>
            </a:pPr>
            <a:r>
              <a:rPr lang="ko-KR" altLang="en-US" sz="1200" b="1"/>
              <a:t>이성찬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92941CA-967A-918B-40FB-1F9DB0818EC7}"/>
              </a:ext>
            </a:extLst>
          </p:cNvPr>
          <p:cNvCxnSpPr>
            <a:cxnSpLocks/>
          </p:cNvCxnSpPr>
          <p:nvPr/>
        </p:nvCxnSpPr>
        <p:spPr>
          <a:xfrm>
            <a:off x="1499552" y="3831597"/>
            <a:ext cx="469190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화살표: 위쪽/아래쪽 36">
            <a:extLst>
              <a:ext uri="{FF2B5EF4-FFF2-40B4-BE49-F238E27FC236}">
                <a16:creationId xmlns:a16="http://schemas.microsoft.com/office/drawing/2014/main" id="{40BE210D-381A-5639-6E37-08A597AB4680}"/>
              </a:ext>
            </a:extLst>
          </p:cNvPr>
          <p:cNvSpPr/>
          <p:nvPr/>
        </p:nvSpPr>
        <p:spPr>
          <a:xfrm>
            <a:off x="3444195" y="3642541"/>
            <a:ext cx="251142" cy="372564"/>
          </a:xfrm>
          <a:prstGeom prst="upDown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/>
          </a:p>
        </p:txBody>
      </p:sp>
      <p:sp>
        <p:nvSpPr>
          <p:cNvPr id="38" name="화살표: 위쪽/아래쪽 37">
            <a:extLst>
              <a:ext uri="{FF2B5EF4-FFF2-40B4-BE49-F238E27FC236}">
                <a16:creationId xmlns:a16="http://schemas.microsoft.com/office/drawing/2014/main" id="{B539A333-7082-AAA8-4C28-32169D92451C}"/>
              </a:ext>
            </a:extLst>
          </p:cNvPr>
          <p:cNvSpPr/>
          <p:nvPr/>
        </p:nvSpPr>
        <p:spPr>
          <a:xfrm>
            <a:off x="5153965" y="3640965"/>
            <a:ext cx="251142" cy="372564"/>
          </a:xfrm>
          <a:prstGeom prst="upDownArrow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6602F7-35D0-1360-5171-FEDF99EC44AC}"/>
              </a:ext>
            </a:extLst>
          </p:cNvPr>
          <p:cNvSpPr txBox="1"/>
          <p:nvPr/>
        </p:nvSpPr>
        <p:spPr>
          <a:xfrm>
            <a:off x="8351542" y="3180308"/>
            <a:ext cx="3419398" cy="1026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/>
              <a:t>[Maintenance </a:t>
            </a:r>
            <a:r>
              <a:rPr lang="ko-KR" altLang="en-US" sz="1200" b="1"/>
              <a:t>담당자</a:t>
            </a:r>
            <a:r>
              <a:rPr lang="en-US" altLang="ko-KR" sz="1200" b="1"/>
              <a:t>]</a:t>
            </a:r>
          </a:p>
          <a:p>
            <a:pPr>
              <a:lnSpc>
                <a:spcPct val="150000"/>
              </a:lnSpc>
            </a:pPr>
            <a:endParaRPr lang="en-US" altLang="ko-KR" sz="600" b="1"/>
          </a:p>
          <a:p>
            <a:pPr>
              <a:lnSpc>
                <a:spcPct val="150000"/>
              </a:lnSpc>
            </a:pPr>
            <a:r>
              <a:rPr lang="en-US" altLang="ko-KR" sz="1200"/>
              <a:t>PC</a:t>
            </a:r>
            <a:r>
              <a:rPr lang="ko-KR" altLang="en-US" sz="1200"/>
              <a:t> 리뉴 시 개발 담당자는</a:t>
            </a:r>
            <a:endParaRPr lang="en-US" altLang="ko-KR" sz="1200"/>
          </a:p>
          <a:p>
            <a:pPr>
              <a:lnSpc>
                <a:spcPct val="150000"/>
              </a:lnSpc>
            </a:pPr>
            <a:r>
              <a:rPr lang="ko-KR" altLang="en-US" sz="1200"/>
              <a:t>해당 부분의 </a:t>
            </a:r>
            <a:r>
              <a:rPr lang="en-US" altLang="ko-KR" sz="1200"/>
              <a:t>maintenance </a:t>
            </a:r>
            <a:r>
              <a:rPr lang="ko-KR" altLang="en-US" sz="1200"/>
              <a:t>담당자로 자동 지정</a:t>
            </a:r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5DD06DE7-BC37-E364-686A-CAFB7E1D7C1E}"/>
              </a:ext>
            </a:extLst>
          </p:cNvPr>
          <p:cNvSpPr/>
          <p:nvPr/>
        </p:nvSpPr>
        <p:spPr>
          <a:xfrm>
            <a:off x="6659497" y="3539427"/>
            <a:ext cx="1411199" cy="547874"/>
          </a:xfrm>
          <a:prstGeom prst="rightArrow">
            <a:avLst/>
          </a:prstGeom>
          <a:noFill/>
          <a:ln w="31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850297D-61F3-42A2-5CDC-B95B2DCAE9A8}"/>
              </a:ext>
            </a:extLst>
          </p:cNvPr>
          <p:cNvSpPr txBox="1"/>
          <p:nvPr/>
        </p:nvSpPr>
        <p:spPr>
          <a:xfrm>
            <a:off x="6810395" y="3693029"/>
            <a:ext cx="9476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>
                <a:solidFill>
                  <a:schemeClr val="tx1">
                    <a:lumMod val="95000"/>
                    <a:lumOff val="5000"/>
                  </a:schemeClr>
                </a:solidFill>
              </a:rPr>
              <a:t>PC </a:t>
            </a:r>
            <a:r>
              <a:rPr lang="ko-KR" altLang="en-US" sz="1000">
                <a:solidFill>
                  <a:schemeClr val="tx1">
                    <a:lumMod val="95000"/>
                    <a:lumOff val="5000"/>
                  </a:schemeClr>
                </a:solidFill>
              </a:rPr>
              <a:t>리뉴 이후</a:t>
            </a:r>
          </a:p>
        </p:txBody>
      </p:sp>
    </p:spTree>
    <p:extLst>
      <p:ext uri="{BB962C8B-B14F-4D97-AF65-F5344CB8AC3E}">
        <p14:creationId xmlns:p14="http://schemas.microsoft.com/office/powerpoint/2010/main" val="1407871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3F9878-CE58-4A57-312E-4F5FE2937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560353"/>
              </p:ext>
            </p:extLst>
          </p:nvPr>
        </p:nvGraphicFramePr>
        <p:xfrm>
          <a:off x="701040" y="1112519"/>
          <a:ext cx="10871721" cy="516805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2156378">
                  <a:extLst>
                    <a:ext uri="{9D8B030D-6E8A-4147-A177-3AD203B41FA5}">
                      <a16:colId xmlns:a16="http://schemas.microsoft.com/office/drawing/2014/main" val="568088845"/>
                    </a:ext>
                  </a:extLst>
                </a:gridCol>
                <a:gridCol w="2846806">
                  <a:extLst>
                    <a:ext uri="{9D8B030D-6E8A-4147-A177-3AD203B41FA5}">
                      <a16:colId xmlns:a16="http://schemas.microsoft.com/office/drawing/2014/main" val="2172909733"/>
                    </a:ext>
                  </a:extLst>
                </a:gridCol>
                <a:gridCol w="2816030">
                  <a:extLst>
                    <a:ext uri="{9D8B030D-6E8A-4147-A177-3AD203B41FA5}">
                      <a16:colId xmlns:a16="http://schemas.microsoft.com/office/drawing/2014/main" val="2076317107"/>
                    </a:ext>
                  </a:extLst>
                </a:gridCol>
                <a:gridCol w="3052507">
                  <a:extLst>
                    <a:ext uri="{9D8B030D-6E8A-4147-A177-3AD203B41FA5}">
                      <a16:colId xmlns:a16="http://schemas.microsoft.com/office/drawing/2014/main" val="173547441"/>
                    </a:ext>
                  </a:extLst>
                </a:gridCol>
              </a:tblGrid>
              <a:tr h="419101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sz="1200"/>
                        <a:t>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BEFORE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AFTER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</a:rPr>
                        <a:t>BENEFIT</a:t>
                      </a:r>
                      <a:endParaRPr lang="ko-KR" altLang="en-US" sz="1200"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836495"/>
                  </a:ext>
                </a:extLst>
              </a:tr>
              <a:tr h="9381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b="1"/>
                        <a:t>Planning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/>
                        <a:t>기획서 파편화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/>
                        <a:t>기획서 통합</a:t>
                      </a:r>
                      <a:r>
                        <a:rPr lang="en-US" altLang="ko-KR" sz="1200"/>
                        <a:t> &amp; </a:t>
                      </a:r>
                      <a:r>
                        <a:rPr lang="ko-KR" altLang="en-US" sz="1200"/>
                        <a:t>최신화 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1)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기획서의 영속성 유지</a:t>
                      </a:r>
                      <a:b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</a:b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2)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관리 매뉴얼로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055977"/>
                  </a:ext>
                </a:extLst>
              </a:tr>
              <a:tr h="789618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b="1"/>
                        <a:t>Design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Figma </a:t>
                      </a:r>
                      <a:r>
                        <a:rPr lang="ko-KR" altLang="en-US" sz="1200"/>
                        <a:t>부분 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Figma </a:t>
                      </a:r>
                      <a:r>
                        <a:rPr lang="ko-KR" altLang="en-US" sz="1200"/>
                        <a:t>전체</a:t>
                      </a:r>
                      <a:r>
                        <a:rPr lang="en-US" altLang="ko-KR" sz="1200"/>
                        <a:t> </a:t>
                      </a:r>
                      <a:r>
                        <a:rPr lang="ko-KR" altLang="en-US" sz="120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컴포넌트 재사용 증대 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규격 일원화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692312"/>
                  </a:ext>
                </a:extLst>
              </a:tr>
              <a:tr h="11448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b="1"/>
                        <a:t>Publishing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 </a:t>
                      </a:r>
                      <a:r>
                        <a:rPr lang="ko-KR" altLang="en-US" sz="1200"/>
                        <a:t>디자인 시스템 無</a:t>
                      </a:r>
                      <a:endParaRPr lang="en-US" altLang="ko-KR" sz="1200"/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2) CSS (style) </a:t>
                      </a:r>
                      <a:r>
                        <a:rPr lang="ko-KR" altLang="en-US" sz="1200"/>
                        <a:t>관리 어려움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</a:t>
                      </a:r>
                      <a:r>
                        <a:rPr lang="ko-KR" altLang="en-US" sz="1200"/>
                        <a:t> 디자인 시스템 적용</a:t>
                      </a:r>
                      <a:endParaRPr lang="en-US" altLang="ko-KR" sz="1200"/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2) </a:t>
                      </a:r>
                      <a:r>
                        <a:rPr lang="ko-KR" altLang="en-US" sz="1200"/>
                        <a:t>전체 </a:t>
                      </a:r>
                      <a:r>
                        <a:rPr lang="en-US" altLang="ko-KR" sz="1200"/>
                        <a:t>Style </a:t>
                      </a:r>
                      <a:r>
                        <a:rPr lang="ko-KR" altLang="en-US" sz="1200"/>
                        <a:t>재구성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공통 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UI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컴포넌트 적용</a:t>
                      </a:r>
                      <a:endParaRPr lang="en-US" altLang="ko-KR" sz="1200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latinLnBrk="1">
                        <a:lnSpc>
                          <a:spcPct val="200000"/>
                        </a:lnSpc>
                      </a:pPr>
                      <a:endParaRPr lang="ko-KR" altLang="en-US" sz="1200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349334"/>
                  </a:ext>
                </a:extLst>
              </a:tr>
              <a:tr h="9381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b="1"/>
                        <a:t>Frontend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 Html, Javascript</a:t>
                      </a:r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2) Monorepo </a:t>
                      </a:r>
                      <a:r>
                        <a:rPr lang="ko-KR" altLang="en-US" sz="1200"/>
                        <a:t>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 React /</a:t>
                      </a:r>
                      <a:r>
                        <a:rPr lang="ko-KR" altLang="en-US" sz="1200"/>
                        <a:t> </a:t>
                      </a:r>
                      <a:r>
                        <a:rPr lang="en-US" altLang="ko-KR" sz="1200"/>
                        <a:t>Typescript </a:t>
                      </a:r>
                      <a:r>
                        <a:rPr lang="ko-KR" altLang="en-US" sz="1200"/>
                        <a:t>적용</a:t>
                      </a:r>
                      <a:endParaRPr lang="en-US" altLang="ko-KR" sz="120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2) Monorepo </a:t>
                      </a:r>
                      <a:r>
                        <a:rPr lang="ko-KR" altLang="en-US" sz="1200"/>
                        <a:t>적용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컴포넌트 기반 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서비스 속도 증대</a:t>
                      </a:r>
                      <a:endParaRPr lang="en-US" altLang="ko-KR" sz="1200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공통 코드 최대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4356575"/>
                  </a:ext>
                </a:extLst>
              </a:tr>
              <a:tr h="9381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b="1"/>
                        <a:t>Backend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 </a:t>
                      </a:r>
                      <a:r>
                        <a:rPr lang="ko-KR" altLang="en-US" sz="1200"/>
                        <a:t>개별 </a:t>
                      </a:r>
                      <a:r>
                        <a:rPr lang="en-US" altLang="ko-KR" sz="1200"/>
                        <a:t>Backend </a:t>
                      </a:r>
                      <a:r>
                        <a:rPr lang="ko-KR" altLang="en-US" sz="1200"/>
                        <a:t>구성</a:t>
                      </a:r>
                      <a:endParaRPr lang="en-US" altLang="ko-KR" sz="1200"/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2) Map </a:t>
                      </a:r>
                      <a:r>
                        <a:rPr lang="ko-KR" altLang="en-US" sz="1200"/>
                        <a:t>기반</a:t>
                      </a:r>
                      <a:r>
                        <a:rPr lang="en-US" altLang="ko-KR" sz="1200"/>
                        <a:t> </a:t>
                      </a:r>
                      <a:r>
                        <a:rPr lang="ko-KR" altLang="en-US" sz="1200"/>
                        <a:t>코드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1) API </a:t>
                      </a:r>
                      <a:r>
                        <a:rPr lang="ko-KR" altLang="en-US" sz="1200"/>
                        <a:t>서버 통합</a:t>
                      </a:r>
                      <a:endParaRPr lang="en-US" altLang="ko-KR" sz="1200"/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en-US" altLang="ko-KR" sz="1200"/>
                        <a:t>2) </a:t>
                      </a:r>
                      <a:r>
                        <a:rPr lang="ko-KR" altLang="en-US" sz="1200"/>
                        <a:t>코드 고도화 </a:t>
                      </a:r>
                      <a:r>
                        <a:rPr lang="en-US" altLang="ko-KR" sz="1200"/>
                        <a:t>(DTO </a:t>
                      </a:r>
                      <a:r>
                        <a:rPr lang="ko-KR" altLang="en-US" sz="1200"/>
                        <a:t>기반</a:t>
                      </a:r>
                      <a:r>
                        <a:rPr lang="en-US" altLang="ko-KR" sz="1200"/>
                        <a:t>)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모바일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웹 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API </a:t>
                      </a: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통합 구현</a:t>
                      </a:r>
                      <a:endParaRPr lang="en-US" altLang="ko-KR" sz="1200" b="1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pPr latinLnBrk="1">
                        <a:lnSpc>
                          <a:spcPct val="200000"/>
                        </a:lnSpc>
                      </a:pPr>
                      <a:r>
                        <a:rPr lang="ko-KR" altLang="en-US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안정성 및 가독성 증대</a:t>
                      </a:r>
                      <a:r>
                        <a:rPr lang="en-US" altLang="ko-KR" sz="1200" b="1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200" b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(</a:t>
                      </a:r>
                      <a:r>
                        <a:rPr lang="ko-KR" altLang="en-US" sz="1200" b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유지보수 향상</a:t>
                      </a:r>
                      <a:r>
                        <a:rPr lang="en-US" altLang="ko-KR" sz="1200" b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)</a:t>
                      </a:r>
                      <a:endParaRPr lang="ko-KR" altLang="en-US" sz="1200" b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8615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A635853-FF5C-91C5-825F-54B01054862A}"/>
              </a:ext>
            </a:extLst>
          </p:cNvPr>
          <p:cNvSpPr txBox="1"/>
          <p:nvPr/>
        </p:nvSpPr>
        <p:spPr>
          <a:xfrm>
            <a:off x="343075" y="171758"/>
            <a:ext cx="1784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PC </a:t>
            </a:r>
            <a:r>
              <a:rPr lang="ko-KR" altLang="en-US" sz="1600" b="1"/>
              <a:t>리뉴 </a:t>
            </a:r>
            <a:r>
              <a:rPr lang="en-US" altLang="ko-KR" sz="1600" b="1"/>
              <a:t>Benefits</a:t>
            </a:r>
            <a:endParaRPr lang="ko-KR" altLang="en-US" sz="1600" b="1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C3E099F-17D1-81C2-0857-7EB844A0933B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920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266A19-048D-A5A4-D0B5-F1B65B27C7B4}"/>
              </a:ext>
            </a:extLst>
          </p:cNvPr>
          <p:cNvSpPr txBox="1"/>
          <p:nvPr/>
        </p:nvSpPr>
        <p:spPr>
          <a:xfrm>
            <a:off x="343075" y="171758"/>
            <a:ext cx="1933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PC</a:t>
            </a:r>
            <a:r>
              <a:rPr lang="ko-KR" altLang="en-US" sz="1600" b="1"/>
              <a:t> 리뉴 </a:t>
            </a:r>
            <a:r>
              <a:rPr lang="en-US" altLang="ko-KR" sz="1600" b="1"/>
              <a:t>TIMELINE</a:t>
            </a:r>
            <a:endParaRPr lang="ko-KR" altLang="en-US" sz="1600" b="1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BD17B3B-2947-9D09-8344-FB70417A663A}"/>
              </a:ext>
            </a:extLst>
          </p:cNvPr>
          <p:cNvGrpSpPr/>
          <p:nvPr/>
        </p:nvGrpSpPr>
        <p:grpSpPr>
          <a:xfrm>
            <a:off x="547735" y="1524170"/>
            <a:ext cx="2285269" cy="428717"/>
            <a:chOff x="2132250" y="0"/>
            <a:chExt cx="2663605" cy="553244"/>
          </a:xfrm>
          <a:solidFill>
            <a:schemeClr val="accent1">
              <a:lumMod val="50000"/>
            </a:schemeClr>
          </a:solidFill>
        </p:grpSpPr>
        <p:sp>
          <p:nvSpPr>
            <p:cNvPr id="6" name="화살표: 갈매기형 수장 5">
              <a:extLst>
                <a:ext uri="{FF2B5EF4-FFF2-40B4-BE49-F238E27FC236}">
                  <a16:creationId xmlns:a16="http://schemas.microsoft.com/office/drawing/2014/main" id="{B30510A6-D72E-7B20-5D51-C891C1070FB8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7" name="화살표: 갈매기형 수장 4">
              <a:extLst>
                <a:ext uri="{FF2B5EF4-FFF2-40B4-BE49-F238E27FC236}">
                  <a16:creationId xmlns:a16="http://schemas.microsoft.com/office/drawing/2014/main" id="{6AE3A8BD-F284-C0AC-6BC9-00602AF0CBAF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선행작업</a:t>
              </a:r>
              <a:endParaRPr lang="ko-KR" altLang="en-US" sz="1100" b="1" i="0" kern="1200">
                <a:solidFill>
                  <a:schemeClr val="accent6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1DAB3BD4-66A1-E0BE-6163-159D972100A7}"/>
              </a:ext>
            </a:extLst>
          </p:cNvPr>
          <p:cNvGrpSpPr/>
          <p:nvPr/>
        </p:nvGrpSpPr>
        <p:grpSpPr>
          <a:xfrm>
            <a:off x="2654011" y="1524169"/>
            <a:ext cx="2459468" cy="428717"/>
            <a:chOff x="2132250" y="0"/>
            <a:chExt cx="2663605" cy="553244"/>
          </a:xfrm>
          <a:solidFill>
            <a:schemeClr val="accent1">
              <a:lumMod val="50000"/>
            </a:schemeClr>
          </a:solidFill>
        </p:grpSpPr>
        <p:sp>
          <p:nvSpPr>
            <p:cNvPr id="9" name="화살표: 갈매기형 수장 8">
              <a:extLst>
                <a:ext uri="{FF2B5EF4-FFF2-40B4-BE49-F238E27FC236}">
                  <a16:creationId xmlns:a16="http://schemas.microsoft.com/office/drawing/2014/main" id="{C9D6406D-68F2-24CC-0634-BBB02D7C9BC4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" name="화살표: 갈매기형 수장 4">
              <a:extLst>
                <a:ext uri="{FF2B5EF4-FFF2-40B4-BE49-F238E27FC236}">
                  <a16:creationId xmlns:a16="http://schemas.microsoft.com/office/drawing/2014/main" id="{70656D30-FF16-4F52-C831-E571DFCE7BD4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>
                  <a:solidFill>
                    <a:schemeClr val="bg1">
                      <a:lumMod val="95000"/>
                    </a:schemeClr>
                  </a:solidFill>
                </a:rPr>
                <a:t>커뮤니티 </a:t>
              </a:r>
              <a:r>
                <a:rPr lang="en-US" altLang="ko-KR" sz="1100" b="1">
                  <a:solidFill>
                    <a:schemeClr val="bg1">
                      <a:lumMod val="95000"/>
                    </a:schemeClr>
                  </a:solidFill>
                </a:rPr>
                <a:t>&amp; </a:t>
              </a:r>
              <a:r>
                <a:rPr lang="ko-KR" altLang="en-US" sz="1100" b="1">
                  <a:solidFill>
                    <a:schemeClr val="bg1">
                      <a:lumMod val="95000"/>
                    </a:schemeClr>
                  </a:solidFill>
                </a:rPr>
                <a:t>공통</a:t>
              </a:r>
              <a:endParaRPr lang="ko-KR" altLang="en-US" sz="1100" b="1" i="0" kern="12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45A572A-AE3B-568F-483B-C556AD80DE8E}"/>
              </a:ext>
            </a:extLst>
          </p:cNvPr>
          <p:cNvGrpSpPr/>
          <p:nvPr/>
        </p:nvGrpSpPr>
        <p:grpSpPr>
          <a:xfrm>
            <a:off x="7000392" y="4186651"/>
            <a:ext cx="2276643" cy="428717"/>
            <a:chOff x="2132250" y="0"/>
            <a:chExt cx="2663605" cy="553244"/>
          </a:xfrm>
          <a:solidFill>
            <a:schemeClr val="accent6">
              <a:lumMod val="50000"/>
            </a:schemeClr>
          </a:solidFill>
        </p:grpSpPr>
        <p:sp>
          <p:nvSpPr>
            <p:cNvPr id="15" name="화살표: 갈매기형 수장 14">
              <a:extLst>
                <a:ext uri="{FF2B5EF4-FFF2-40B4-BE49-F238E27FC236}">
                  <a16:creationId xmlns:a16="http://schemas.microsoft.com/office/drawing/2014/main" id="{23616FB5-CD96-567C-0969-F1B6F22717E0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6" name="화살표: 갈매기형 수장 4">
              <a:extLst>
                <a:ext uri="{FF2B5EF4-FFF2-40B4-BE49-F238E27FC236}">
                  <a16:creationId xmlns:a16="http://schemas.microsoft.com/office/drawing/2014/main" id="{A68FF9BF-5407-60A5-A38C-C7E9E71A5B62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100" b="1" i="0" kern="1200">
                  <a:solidFill>
                    <a:schemeClr val="bg1">
                      <a:lumMod val="95000"/>
                    </a:schemeClr>
                  </a:solidFill>
                </a:rPr>
                <a:t>MG</a:t>
              </a: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몰</a:t>
              </a:r>
              <a:r>
                <a:rPr lang="en-US" altLang="ko-KR" sz="1100" b="1" i="0" kern="1200">
                  <a:solidFill>
                    <a:schemeClr val="bg1">
                      <a:lumMod val="95000"/>
                    </a:schemeClr>
                  </a:solidFill>
                </a:rPr>
                <a:t> </a:t>
              </a: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등</a:t>
              </a: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4EBC2D2-C5C0-6C59-9B54-754CA4F260DC}"/>
              </a:ext>
            </a:extLst>
          </p:cNvPr>
          <p:cNvGrpSpPr/>
          <p:nvPr/>
        </p:nvGrpSpPr>
        <p:grpSpPr>
          <a:xfrm>
            <a:off x="2727503" y="4189188"/>
            <a:ext cx="2220121" cy="428717"/>
            <a:chOff x="2132250" y="0"/>
            <a:chExt cx="2663605" cy="553244"/>
          </a:xfrm>
          <a:solidFill>
            <a:schemeClr val="accent6">
              <a:lumMod val="50000"/>
            </a:schemeClr>
          </a:solidFill>
        </p:grpSpPr>
        <p:sp>
          <p:nvSpPr>
            <p:cNvPr id="24" name="화살표: 갈매기형 수장 23">
              <a:extLst>
                <a:ext uri="{FF2B5EF4-FFF2-40B4-BE49-F238E27FC236}">
                  <a16:creationId xmlns:a16="http://schemas.microsoft.com/office/drawing/2014/main" id="{6EE8092C-943A-F408-FB31-38CB637E3503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25" name="화살표: 갈매기형 수장 4">
              <a:extLst>
                <a:ext uri="{FF2B5EF4-FFF2-40B4-BE49-F238E27FC236}">
                  <a16:creationId xmlns:a16="http://schemas.microsoft.com/office/drawing/2014/main" id="{8D9E0F92-2584-7CB5-E20B-2DDA1260F979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>
                  <a:solidFill>
                    <a:schemeClr val="bg1">
                      <a:lumMod val="95000"/>
                    </a:schemeClr>
                  </a:solidFill>
                </a:rPr>
                <a:t>개원</a:t>
              </a:r>
              <a:endParaRPr lang="ko-KR" altLang="en-US" sz="1100" b="1" i="0" kern="12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9744FDB8-4AE2-907D-90A9-3251AC1B113F}"/>
              </a:ext>
            </a:extLst>
          </p:cNvPr>
          <p:cNvSpPr txBox="1"/>
          <p:nvPr/>
        </p:nvSpPr>
        <p:spPr>
          <a:xfrm>
            <a:off x="771584" y="2501830"/>
            <a:ext cx="1882158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모노레포 구성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아키텍처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패턴 설계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공통 라이브러리 정의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디자인 시스템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데모 프로그램 제작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594D3-DE60-2CF3-D4A7-63E59CEE933C}"/>
              </a:ext>
            </a:extLst>
          </p:cNvPr>
          <p:cNvSpPr txBox="1"/>
          <p:nvPr/>
        </p:nvSpPr>
        <p:spPr>
          <a:xfrm>
            <a:off x="9725254" y="4212078"/>
            <a:ext cx="2016709" cy="1483611"/>
          </a:xfrm>
          <a:prstGeom prst="rect">
            <a:avLst/>
          </a:prstGeom>
          <a:noFill/>
          <a:ln w="57150">
            <a:solidFill>
              <a:srgbClr val="00206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altLang="ko-KR" sz="6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   </a:t>
            </a:r>
          </a:p>
          <a:p>
            <a:pPr algn="ctr">
              <a:lnSpc>
                <a:spcPct val="200000"/>
              </a:lnSpc>
            </a:pP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   &lt; RESOURCE </a:t>
            </a:r>
            <a:r>
              <a:rPr lang="ko-KR" altLang="en-US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기준</a:t>
            </a: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&gt;</a:t>
            </a:r>
          </a:p>
          <a:p>
            <a:pPr>
              <a:lnSpc>
                <a:spcPct val="200000"/>
              </a:lnSpc>
            </a:pP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             FE 4</a:t>
            </a:r>
            <a:r>
              <a:rPr lang="ko-KR" altLang="en-US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명</a:t>
            </a:r>
            <a:endParaRPr lang="en-US" altLang="ko-KR" sz="1000" b="1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             BE 2</a:t>
            </a:r>
            <a:r>
              <a:rPr lang="ko-KR" altLang="en-US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명 </a:t>
            </a: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최소</a:t>
            </a:r>
            <a:r>
              <a:rPr lang="en-US" altLang="ko-KR" sz="1000" b="1">
                <a:solidFill>
                  <a:schemeClr val="accent3">
                    <a:lumMod val="50000"/>
                  </a:schemeClr>
                </a:solidFill>
                <a:latin typeface="+mn-ea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US" altLang="ko-KR" sz="500" b="1">
              <a:solidFill>
                <a:schemeClr val="accent3">
                  <a:lumMod val="50000"/>
                </a:schemeClr>
              </a:solidFill>
              <a:latin typeface="+mn-ea"/>
            </a:endParaRPr>
          </a:p>
          <a:p>
            <a:pPr algn="ctr">
              <a:lnSpc>
                <a:spcPct val="200000"/>
              </a:lnSpc>
            </a:pPr>
            <a:endParaRPr lang="en-US" altLang="ko-KR" sz="500">
              <a:solidFill>
                <a:schemeClr val="accent3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049B6F-938F-1E54-C241-7979BCD45062}"/>
              </a:ext>
            </a:extLst>
          </p:cNvPr>
          <p:cNvSpPr txBox="1"/>
          <p:nvPr/>
        </p:nvSpPr>
        <p:spPr>
          <a:xfrm>
            <a:off x="2941153" y="2477214"/>
            <a:ext cx="1882158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무찌마 등 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6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개 게시판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GNB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영역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ASIDE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공통 영역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알림메시지 등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서비스 인증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D5D27A-7C2E-24A9-1DF8-731FEAE2E210}"/>
              </a:ext>
            </a:extLst>
          </p:cNvPr>
          <p:cNvSpPr txBox="1"/>
          <p:nvPr/>
        </p:nvSpPr>
        <p:spPr>
          <a:xfrm>
            <a:off x="3186433" y="2106115"/>
            <a:ext cx="1372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(10/21~12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중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7C772-0A95-52E5-21BA-D1FB038D216E}"/>
              </a:ext>
            </a:extLst>
          </p:cNvPr>
          <p:cNvSpPr txBox="1"/>
          <p:nvPr/>
        </p:nvSpPr>
        <p:spPr>
          <a:xfrm>
            <a:off x="7564228" y="5170077"/>
            <a:ext cx="1882158" cy="985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MG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몰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나의포인트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MY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메뉴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설문조사 등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589637E-CF44-499C-DCBC-FB263B006D10}"/>
              </a:ext>
            </a:extLst>
          </p:cNvPr>
          <p:cNvGrpSpPr/>
          <p:nvPr/>
        </p:nvGrpSpPr>
        <p:grpSpPr>
          <a:xfrm>
            <a:off x="9080789" y="1523026"/>
            <a:ext cx="2423525" cy="428717"/>
            <a:chOff x="2132250" y="0"/>
            <a:chExt cx="2663605" cy="553244"/>
          </a:xfrm>
        </p:grpSpPr>
        <p:sp>
          <p:nvSpPr>
            <p:cNvPr id="35" name="화살표: 갈매기형 수장 34">
              <a:extLst>
                <a:ext uri="{FF2B5EF4-FFF2-40B4-BE49-F238E27FC236}">
                  <a16:creationId xmlns:a16="http://schemas.microsoft.com/office/drawing/2014/main" id="{7351FBE4-398E-A536-57DC-435FB231DCD0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36" name="화살표: 갈매기형 수장 4">
              <a:extLst>
                <a:ext uri="{FF2B5EF4-FFF2-40B4-BE49-F238E27FC236}">
                  <a16:creationId xmlns:a16="http://schemas.microsoft.com/office/drawing/2014/main" id="{87F49D68-B97A-B9A4-FA30-CEAD1A54D315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임대분양</a:t>
              </a:r>
              <a:r>
                <a:rPr lang="en-US" altLang="ko-KR" sz="1100" b="1">
                  <a:solidFill>
                    <a:schemeClr val="bg1">
                      <a:lumMod val="95000"/>
                    </a:schemeClr>
                  </a:solidFill>
                </a:rPr>
                <a:t> </a:t>
              </a:r>
              <a:r>
                <a:rPr lang="ko-KR" altLang="en-US" sz="1100" b="1">
                  <a:solidFill>
                    <a:schemeClr val="bg1">
                      <a:lumMod val="95000"/>
                    </a:schemeClr>
                  </a:solidFill>
                </a:rPr>
                <a:t>등</a:t>
              </a:r>
              <a:endParaRPr lang="ko-KR" altLang="en-US" sz="1100" b="1" i="0" kern="12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17F527B7-DADA-E65E-F4AA-F72938104A51}"/>
              </a:ext>
            </a:extLst>
          </p:cNvPr>
          <p:cNvSpPr txBox="1"/>
          <p:nvPr/>
        </p:nvSpPr>
        <p:spPr>
          <a:xfrm>
            <a:off x="9922196" y="2113117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(~4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말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B27F29-9932-A7D1-6FB6-324C39AEDADB}"/>
              </a:ext>
            </a:extLst>
          </p:cNvPr>
          <p:cNvSpPr txBox="1"/>
          <p:nvPr/>
        </p:nvSpPr>
        <p:spPr>
          <a:xfrm>
            <a:off x="9835713" y="2477214"/>
            <a:ext cx="1666444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임대분양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HLINK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A9A164B-540F-EA05-52CE-44E90F506FC8}"/>
              </a:ext>
            </a:extLst>
          </p:cNvPr>
          <p:cNvSpPr txBox="1"/>
          <p:nvPr/>
        </p:nvSpPr>
        <p:spPr>
          <a:xfrm>
            <a:off x="5393557" y="4815385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(~11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중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4F3A96-C1F4-B1C2-854A-34D35BC6FFD9}"/>
              </a:ext>
            </a:extLst>
          </p:cNvPr>
          <p:cNvSpPr txBox="1"/>
          <p:nvPr/>
        </p:nvSpPr>
        <p:spPr>
          <a:xfrm>
            <a:off x="5302441" y="5170077"/>
            <a:ext cx="2016709" cy="121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로그인 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/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로그아웃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회원가입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/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수정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임시회원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캠페인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ID/PWD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찾기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탈퇴 등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BC2309-11CD-E7EC-9B56-EA6B423502A0}"/>
              </a:ext>
            </a:extLst>
          </p:cNvPr>
          <p:cNvSpPr txBox="1"/>
          <p:nvPr/>
        </p:nvSpPr>
        <p:spPr>
          <a:xfrm>
            <a:off x="437845" y="832078"/>
            <a:ext cx="2243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카테고리별 점진적 개발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C5D878A-FBBF-353A-2C6B-B257CB81DEF7}"/>
              </a:ext>
            </a:extLst>
          </p:cNvPr>
          <p:cNvSpPr/>
          <p:nvPr/>
        </p:nvSpPr>
        <p:spPr>
          <a:xfrm>
            <a:off x="385874" y="859953"/>
            <a:ext cx="45719" cy="2520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834B252-3615-0029-BA40-28AACD724C90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CF6A5A5-A835-3850-E247-05CBD8A33314}"/>
              </a:ext>
            </a:extLst>
          </p:cNvPr>
          <p:cNvGrpSpPr/>
          <p:nvPr/>
        </p:nvGrpSpPr>
        <p:grpSpPr>
          <a:xfrm>
            <a:off x="6871458" y="1519095"/>
            <a:ext cx="2459468" cy="428717"/>
            <a:chOff x="2132250" y="0"/>
            <a:chExt cx="2663605" cy="553244"/>
          </a:xfrm>
        </p:grpSpPr>
        <p:sp>
          <p:nvSpPr>
            <p:cNvPr id="54" name="화살표: 갈매기형 수장 53">
              <a:extLst>
                <a:ext uri="{FF2B5EF4-FFF2-40B4-BE49-F238E27FC236}">
                  <a16:creationId xmlns:a16="http://schemas.microsoft.com/office/drawing/2014/main" id="{A4D77B03-6D91-E2F3-3BD8-973780D022AC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55" name="화살표: 갈매기형 수장 4">
              <a:extLst>
                <a:ext uri="{FF2B5EF4-FFF2-40B4-BE49-F238E27FC236}">
                  <a16:creationId xmlns:a16="http://schemas.microsoft.com/office/drawing/2014/main" id="{88BB1AE5-1A2E-907C-6E36-7A85FC5ED7DA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초빙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8810CBE-FE42-7402-92C1-C1AA156F5D8D}"/>
              </a:ext>
            </a:extLst>
          </p:cNvPr>
          <p:cNvSpPr txBox="1"/>
          <p:nvPr/>
        </p:nvSpPr>
        <p:spPr>
          <a:xfrm>
            <a:off x="7679650" y="2122309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(~3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중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36F6180-C2A1-3ED7-BB6F-FAFED7C89740}"/>
              </a:ext>
            </a:extLst>
          </p:cNvPr>
          <p:cNvSpPr txBox="1"/>
          <p:nvPr/>
        </p:nvSpPr>
        <p:spPr>
          <a:xfrm>
            <a:off x="7663288" y="2501830"/>
            <a:ext cx="1666444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초빙정보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결제 모듈 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공통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5A9BF8D1-1F1A-25E5-079B-3546266D3087}"/>
              </a:ext>
            </a:extLst>
          </p:cNvPr>
          <p:cNvGrpSpPr/>
          <p:nvPr/>
        </p:nvGrpSpPr>
        <p:grpSpPr>
          <a:xfrm>
            <a:off x="4744647" y="4187127"/>
            <a:ext cx="2459468" cy="428717"/>
            <a:chOff x="2132250" y="0"/>
            <a:chExt cx="2663605" cy="553244"/>
          </a:xfrm>
          <a:solidFill>
            <a:schemeClr val="accent6">
              <a:lumMod val="50000"/>
            </a:schemeClr>
          </a:solidFill>
        </p:grpSpPr>
        <p:sp>
          <p:nvSpPr>
            <p:cNvPr id="64" name="화살표: 갈매기형 수장 63">
              <a:extLst>
                <a:ext uri="{FF2B5EF4-FFF2-40B4-BE49-F238E27FC236}">
                  <a16:creationId xmlns:a16="http://schemas.microsoft.com/office/drawing/2014/main" id="{A7E25A00-09F2-BDAC-A5E5-40241036E33B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5" name="화살표: 갈매기형 수장 4">
              <a:extLst>
                <a:ext uri="{FF2B5EF4-FFF2-40B4-BE49-F238E27FC236}">
                  <a16:creationId xmlns:a16="http://schemas.microsoft.com/office/drawing/2014/main" id="{8B94AFA8-41B1-8D18-3878-42305F818B6B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회원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7B0577A-F1B7-C107-B5B9-84A22F239BC5}"/>
              </a:ext>
            </a:extLst>
          </p:cNvPr>
          <p:cNvSpPr txBox="1"/>
          <p:nvPr/>
        </p:nvSpPr>
        <p:spPr>
          <a:xfrm>
            <a:off x="7694110" y="4815385"/>
            <a:ext cx="9460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(~12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중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95CFE-FC98-CA2D-DC39-C110D02FBB71}"/>
              </a:ext>
            </a:extLst>
          </p:cNvPr>
          <p:cNvSpPr txBox="1"/>
          <p:nvPr/>
        </p:nvSpPr>
        <p:spPr>
          <a:xfrm>
            <a:off x="3230801" y="5201210"/>
            <a:ext cx="1666444" cy="524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개원올인원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개원컨퍼런스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6C8D91-FE99-D27B-1624-3F7936BEC144}"/>
              </a:ext>
            </a:extLst>
          </p:cNvPr>
          <p:cNvSpPr txBox="1"/>
          <p:nvPr/>
        </p:nvSpPr>
        <p:spPr>
          <a:xfrm>
            <a:off x="3382086" y="4789019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(~8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말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5F190458-517E-89EA-A4FE-5E2B4881E921}"/>
              </a:ext>
            </a:extLst>
          </p:cNvPr>
          <p:cNvGrpSpPr/>
          <p:nvPr/>
        </p:nvGrpSpPr>
        <p:grpSpPr>
          <a:xfrm>
            <a:off x="641738" y="4194747"/>
            <a:ext cx="2276643" cy="428717"/>
            <a:chOff x="2132250" y="0"/>
            <a:chExt cx="2663605" cy="553244"/>
          </a:xfrm>
          <a:solidFill>
            <a:schemeClr val="accent6">
              <a:lumMod val="50000"/>
            </a:schemeClr>
          </a:solidFill>
        </p:grpSpPr>
        <p:sp>
          <p:nvSpPr>
            <p:cNvPr id="60" name="화살표: 갈매기형 수장 59">
              <a:extLst>
                <a:ext uri="{FF2B5EF4-FFF2-40B4-BE49-F238E27FC236}">
                  <a16:creationId xmlns:a16="http://schemas.microsoft.com/office/drawing/2014/main" id="{74BEF05F-C032-CCBD-AFEF-C3C8E6EFFABC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61" name="화살표: 갈매기형 수장 4">
              <a:extLst>
                <a:ext uri="{FF2B5EF4-FFF2-40B4-BE49-F238E27FC236}">
                  <a16:creationId xmlns:a16="http://schemas.microsoft.com/office/drawing/2014/main" id="{F89C0779-7CE3-5C76-A56B-3C44233D0886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1100" b="1" i="0" kern="1200">
                  <a:solidFill>
                    <a:schemeClr val="bg1">
                      <a:lumMod val="95000"/>
                    </a:schemeClr>
                  </a:solidFill>
                </a:rPr>
                <a:t>아카데미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06D2404C-A82C-BB36-7185-EA6BD5E399D0}"/>
              </a:ext>
            </a:extLst>
          </p:cNvPr>
          <p:cNvSpPr txBox="1"/>
          <p:nvPr/>
        </p:nvSpPr>
        <p:spPr>
          <a:xfrm>
            <a:off x="1227325" y="4768051"/>
            <a:ext cx="8563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(~7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중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CE6711-071E-01CE-E58D-804F6850466A}"/>
              </a:ext>
            </a:extLst>
          </p:cNvPr>
          <p:cNvSpPr txBox="1"/>
          <p:nvPr/>
        </p:nvSpPr>
        <p:spPr>
          <a:xfrm>
            <a:off x="1099860" y="5139944"/>
            <a:ext cx="1948624" cy="144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의학정보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이벤트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웹심포지움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브랜드페이지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간편신청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메디캐스트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연수강좌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A1076BD6-147B-A7D7-85B5-196DCCD7B7DB}"/>
              </a:ext>
            </a:extLst>
          </p:cNvPr>
          <p:cNvGrpSpPr/>
          <p:nvPr/>
        </p:nvGrpSpPr>
        <p:grpSpPr>
          <a:xfrm>
            <a:off x="4932789" y="1524654"/>
            <a:ext cx="2145444" cy="428717"/>
            <a:chOff x="2132250" y="0"/>
            <a:chExt cx="2663605" cy="553244"/>
          </a:xfrm>
          <a:solidFill>
            <a:schemeClr val="accent1">
              <a:lumMod val="50000"/>
            </a:schemeClr>
          </a:solidFill>
        </p:grpSpPr>
        <p:sp>
          <p:nvSpPr>
            <p:cNvPr id="70" name="화살표: 갈매기형 수장 69">
              <a:extLst>
                <a:ext uri="{FF2B5EF4-FFF2-40B4-BE49-F238E27FC236}">
                  <a16:creationId xmlns:a16="http://schemas.microsoft.com/office/drawing/2014/main" id="{DCFA915E-6458-FA71-8140-5678D506DD78}"/>
                </a:ext>
              </a:extLst>
            </p:cNvPr>
            <p:cNvSpPr/>
            <p:nvPr/>
          </p:nvSpPr>
          <p:spPr>
            <a:xfrm>
              <a:off x="2132250" y="0"/>
              <a:ext cx="2663605" cy="553244"/>
            </a:xfrm>
            <a:prstGeom prst="chevron">
              <a:avLst/>
            </a:pr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 sz="110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1" name="화살표: 갈매기형 수장 4">
              <a:extLst>
                <a:ext uri="{FF2B5EF4-FFF2-40B4-BE49-F238E27FC236}">
                  <a16:creationId xmlns:a16="http://schemas.microsoft.com/office/drawing/2014/main" id="{730C848E-6DA8-1E6B-7A8E-8D375FAFC1F8}"/>
                </a:ext>
              </a:extLst>
            </p:cNvPr>
            <p:cNvSpPr txBox="1"/>
            <p:nvPr/>
          </p:nvSpPr>
          <p:spPr>
            <a:xfrm>
              <a:off x="2408872" y="0"/>
              <a:ext cx="2110361" cy="553244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8006" tIns="32004" rIns="16002" bIns="32004" numCol="1" spcCol="1270" anchor="ctr" anchorCtr="0">
              <a:noAutofit/>
            </a:bodyPr>
            <a:lstStyle/>
            <a:p>
              <a:pPr marL="0" lvl="0" indent="0" algn="ctr" defTabSz="5334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ko-KR" sz="1100" b="1">
                  <a:solidFill>
                    <a:schemeClr val="bg1">
                      <a:lumMod val="95000"/>
                    </a:schemeClr>
                  </a:solidFill>
                </a:rPr>
                <a:t>FOOTER</a:t>
              </a:r>
              <a:endParaRPr lang="ko-KR" altLang="en-US" sz="1100" b="1" i="0" kern="1200">
                <a:solidFill>
                  <a:schemeClr val="bg1">
                    <a:lumMod val="95000"/>
                  </a:schemeClr>
                </a:solidFill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A86BAB7A-2B12-3415-5B5B-AD6BFD622D8C}"/>
              </a:ext>
            </a:extLst>
          </p:cNvPr>
          <p:cNvSpPr txBox="1"/>
          <p:nvPr/>
        </p:nvSpPr>
        <p:spPr>
          <a:xfrm>
            <a:off x="5323589" y="2408441"/>
            <a:ext cx="1563109" cy="144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공지사항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STATIC(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약관 등</a:t>
            </a: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광고문의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고객센터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1:1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문의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FAQ, </a:t>
            </a:r>
            <a:r>
              <a:rPr lang="ko-KR" altLang="en-US" sz="1000">
                <a:solidFill>
                  <a:schemeClr val="bg2">
                    <a:lumMod val="25000"/>
                  </a:schemeClr>
                </a:solidFill>
                <a:latin typeface="+mn-ea"/>
              </a:rPr>
              <a:t>게시글신고 등</a:t>
            </a:r>
            <a:endParaRPr lang="en-US" altLang="ko-KR" sz="100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21BBAC-67AE-9F02-749A-8BB163E26DAE}"/>
              </a:ext>
            </a:extLst>
          </p:cNvPr>
          <p:cNvSpPr txBox="1"/>
          <p:nvPr/>
        </p:nvSpPr>
        <p:spPr>
          <a:xfrm>
            <a:off x="5605591" y="2105086"/>
            <a:ext cx="7457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(1</a:t>
            </a:r>
            <a:r>
              <a:rPr lang="ko-KR" altLang="en-US" sz="1200" b="1" u="sng">
                <a:solidFill>
                  <a:schemeClr val="accent6">
                    <a:lumMod val="50000"/>
                  </a:schemeClr>
                </a:solidFill>
              </a:rPr>
              <a:t>월 말</a:t>
            </a:r>
            <a:r>
              <a:rPr lang="en-US" altLang="ko-KR" sz="1200" b="1" u="sng">
                <a:solidFill>
                  <a:schemeClr val="accent6">
                    <a:lumMod val="50000"/>
                  </a:schemeClr>
                </a:solidFill>
              </a:rPr>
              <a:t>)</a:t>
            </a:r>
            <a:endParaRPr lang="ko-KR" altLang="en-US" sz="1200" b="1" u="sng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50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C0821A0-0248-1E27-B8DD-9C0589610FA7}"/>
              </a:ext>
            </a:extLst>
          </p:cNvPr>
          <p:cNvSpPr txBox="1"/>
          <p:nvPr/>
        </p:nvSpPr>
        <p:spPr>
          <a:xfrm>
            <a:off x="822960" y="926052"/>
            <a:ext cx="3185160" cy="553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초빙정보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공고 연장 및 </a:t>
            </a:r>
            <a:r>
              <a:rPr lang="en-US" altLang="ko-KR" sz="1200"/>
              <a:t>UI/Admin </a:t>
            </a:r>
            <a:r>
              <a:rPr lang="ko-KR" altLang="en-US" sz="1200"/>
              <a:t>기능 개선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플래티넘 상품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사직전공의관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일반유료 가격 변경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취업활동 증명서 발급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연휴 유료공고 자동연장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환불 기능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리포트 기능 업데이트 </a:t>
            </a:r>
            <a:r>
              <a:rPr lang="en-US" altLang="ko-KR" sz="1200"/>
              <a:t>(Admin)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0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임대분양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상품개선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9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200" b="1"/>
              <a:t>개원입지</a:t>
            </a:r>
            <a:endParaRPr lang="en-US" altLang="ko-KR" sz="12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200" b="1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1</a:t>
            </a:r>
            <a:r>
              <a:rPr lang="ko-KR" altLang="en-US" sz="1100"/>
              <a:t>차 </a:t>
            </a:r>
            <a:r>
              <a:rPr lang="en-US" altLang="ko-KR" sz="1100"/>
              <a:t>- </a:t>
            </a:r>
            <a:r>
              <a:rPr lang="ko-KR" altLang="en-US" sz="1100"/>
              <a:t>신한카드 매출 데이터 반영</a:t>
            </a:r>
            <a:endParaRPr lang="en-US" altLang="ko-KR" sz="11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00"/>
              <a:t>2</a:t>
            </a:r>
            <a:r>
              <a:rPr lang="ko-KR" altLang="en-US" sz="1100"/>
              <a:t>차 </a:t>
            </a:r>
            <a:r>
              <a:rPr lang="en-US" altLang="ko-KR" sz="1100"/>
              <a:t>– </a:t>
            </a:r>
            <a:r>
              <a:rPr lang="ko-KR" altLang="en-US" sz="1100"/>
              <a:t>기능 업데이트</a:t>
            </a:r>
            <a:endParaRPr lang="en-US" altLang="ko-KR" sz="120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604C963-BDBF-B828-F5C3-C8D310A09982}"/>
              </a:ext>
            </a:extLst>
          </p:cNvPr>
          <p:cNvCxnSpPr>
            <a:cxnSpLocks/>
          </p:cNvCxnSpPr>
          <p:nvPr/>
        </p:nvCxnSpPr>
        <p:spPr>
          <a:xfrm>
            <a:off x="9144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CE130C-8F70-2193-FBBC-4B63E6D5254E}"/>
              </a:ext>
            </a:extLst>
          </p:cNvPr>
          <p:cNvSpPr txBox="1"/>
          <p:nvPr/>
        </p:nvSpPr>
        <p:spPr>
          <a:xfrm>
            <a:off x="4335780" y="928954"/>
            <a:ext cx="3185160" cy="5435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의학정보 </a:t>
            </a:r>
            <a:r>
              <a:rPr lang="en-US" altLang="ko-KR" sz="1300" b="1"/>
              <a:t>/</a:t>
            </a:r>
            <a:r>
              <a:rPr lang="ko-KR" altLang="en-US" sz="1300" b="1"/>
              <a:t> 웹심포지움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간편신청 서비스 개발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메디캐스트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동영상강좌 리뉴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설문조사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PC</a:t>
            </a:r>
            <a:r>
              <a:rPr lang="ko-KR" altLang="en-US" sz="1200"/>
              <a:t> 리뉴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Mobile </a:t>
            </a:r>
            <a:r>
              <a:rPr lang="ko-KR" altLang="en-US" sz="1200"/>
              <a:t>메뉴 신설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9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배너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모바일 슬라이딩 배너 적용</a:t>
            </a:r>
            <a:endParaRPr lang="en-US" altLang="ko-KR" sz="120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D49C370-6A32-D798-B378-037E0690B903}"/>
              </a:ext>
            </a:extLst>
          </p:cNvPr>
          <p:cNvCxnSpPr>
            <a:cxnSpLocks/>
          </p:cNvCxnSpPr>
          <p:nvPr/>
        </p:nvCxnSpPr>
        <p:spPr>
          <a:xfrm>
            <a:off x="4427220" y="142022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D01E53D-AB8E-19BF-6528-CE6C4530D8D2}"/>
              </a:ext>
            </a:extLst>
          </p:cNvPr>
          <p:cNvCxnSpPr>
            <a:cxnSpLocks/>
          </p:cNvCxnSpPr>
          <p:nvPr/>
        </p:nvCxnSpPr>
        <p:spPr>
          <a:xfrm>
            <a:off x="914400" y="443484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4CA8A951-9BC1-A62E-7926-84C7E9CB0382}"/>
              </a:ext>
            </a:extLst>
          </p:cNvPr>
          <p:cNvCxnSpPr>
            <a:cxnSpLocks/>
          </p:cNvCxnSpPr>
          <p:nvPr/>
        </p:nvCxnSpPr>
        <p:spPr>
          <a:xfrm>
            <a:off x="4427220" y="290612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F3066C1C-F951-211A-39DF-3E5906A0C313}"/>
              </a:ext>
            </a:extLst>
          </p:cNvPr>
          <p:cNvCxnSpPr>
            <a:cxnSpLocks/>
          </p:cNvCxnSpPr>
          <p:nvPr/>
        </p:nvCxnSpPr>
        <p:spPr>
          <a:xfrm>
            <a:off x="4427220" y="4422502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6A17D258-C3BF-86CF-F832-E7D33B6A3C2B}"/>
              </a:ext>
            </a:extLst>
          </p:cNvPr>
          <p:cNvCxnSpPr>
            <a:cxnSpLocks/>
          </p:cNvCxnSpPr>
          <p:nvPr/>
        </p:nvCxnSpPr>
        <p:spPr>
          <a:xfrm>
            <a:off x="876300" y="57607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FF87EE3-9421-C083-9236-0EEA9CDF81B3}"/>
              </a:ext>
            </a:extLst>
          </p:cNvPr>
          <p:cNvCxnSpPr>
            <a:cxnSpLocks/>
          </p:cNvCxnSpPr>
          <p:nvPr/>
        </p:nvCxnSpPr>
        <p:spPr>
          <a:xfrm>
            <a:off x="4427220" y="57607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F26594F-BAEE-5397-C12E-2544BA82B40D}"/>
              </a:ext>
            </a:extLst>
          </p:cNvPr>
          <p:cNvSpPr txBox="1"/>
          <p:nvPr/>
        </p:nvSpPr>
        <p:spPr>
          <a:xfrm>
            <a:off x="7947660" y="926052"/>
            <a:ext cx="3185160" cy="5596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커뮤니티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카테고리 재분류 </a:t>
            </a:r>
            <a:r>
              <a:rPr lang="en-US" altLang="ko-KR" sz="1200"/>
              <a:t>(</a:t>
            </a:r>
            <a:r>
              <a:rPr lang="ko-KR" altLang="en-US" sz="1200"/>
              <a:t>여의도</a:t>
            </a:r>
            <a:r>
              <a:rPr lang="en-US" altLang="ko-KR" sz="1200"/>
              <a:t>, </a:t>
            </a:r>
            <a:r>
              <a:rPr lang="ko-KR" altLang="en-US" sz="1200"/>
              <a:t>에스테틱포럼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300" b="1"/>
              <a:t>020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개원컨퍼런스 </a:t>
            </a:r>
            <a:r>
              <a:rPr lang="en-US" altLang="ko-KR" sz="1200"/>
              <a:t>f/u (</a:t>
            </a:r>
            <a:r>
              <a:rPr lang="ko-KR" altLang="en-US" sz="1200"/>
              <a:t>연간 </a:t>
            </a:r>
            <a:r>
              <a:rPr lang="en-US" altLang="ko-KR" sz="1200"/>
              <a:t>2</a:t>
            </a:r>
            <a:r>
              <a:rPr lang="ko-KR" altLang="en-US" sz="1200"/>
              <a:t>회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핸즈온아카데미 </a:t>
            </a:r>
            <a:r>
              <a:rPr lang="en-US" altLang="ko-KR" sz="1200"/>
              <a:t>f/u (</a:t>
            </a:r>
            <a:r>
              <a:rPr lang="ko-KR" altLang="en-US" sz="1200"/>
              <a:t>연간 </a:t>
            </a:r>
            <a:r>
              <a:rPr lang="en-US" altLang="ko-KR" sz="1200"/>
              <a:t>3</a:t>
            </a:r>
            <a:r>
              <a:rPr lang="ko-KR" altLang="en-US" sz="1200"/>
              <a:t>회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7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보안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200"/>
              <a:t>DLP </a:t>
            </a:r>
            <a:r>
              <a:rPr lang="ko-KR" altLang="en-US" sz="1200"/>
              <a:t>솔루션 도입 </a:t>
            </a:r>
            <a:r>
              <a:rPr lang="en-US" altLang="ko-KR" sz="1200"/>
              <a:t>(</a:t>
            </a:r>
            <a:r>
              <a:rPr lang="ko-KR" altLang="en-US" sz="1200"/>
              <a:t>오피스키퍼</a:t>
            </a:r>
            <a:r>
              <a:rPr lang="en-US" altLang="ko-KR" sz="120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공유폴더 보안 등</a:t>
            </a:r>
            <a:endParaRPr lang="en-US" altLang="ko-KR" sz="12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90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300" b="1"/>
              <a:t>알림 도구</a:t>
            </a:r>
            <a:endParaRPr lang="en-US" altLang="ko-KR" sz="1300" b="1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30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200"/>
              <a:t>비즈톡 </a:t>
            </a:r>
            <a:r>
              <a:rPr lang="en-US" altLang="ko-KR" sz="1200"/>
              <a:t>Agent </a:t>
            </a:r>
            <a:r>
              <a:rPr lang="ko-KR" altLang="en-US" sz="1200"/>
              <a:t>업그레이드</a:t>
            </a:r>
            <a:endParaRPr lang="en-US" altLang="ko-KR" sz="120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284CCB6-5AA2-EDF2-49DB-A90093827FD5}"/>
              </a:ext>
            </a:extLst>
          </p:cNvPr>
          <p:cNvCxnSpPr>
            <a:cxnSpLocks/>
          </p:cNvCxnSpPr>
          <p:nvPr/>
        </p:nvCxnSpPr>
        <p:spPr>
          <a:xfrm>
            <a:off x="8039100" y="14173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51C5FEB-EB57-96F3-C98B-F444E2834F4D}"/>
              </a:ext>
            </a:extLst>
          </p:cNvPr>
          <p:cNvCxnSpPr>
            <a:cxnSpLocks/>
          </p:cNvCxnSpPr>
          <p:nvPr/>
        </p:nvCxnSpPr>
        <p:spPr>
          <a:xfrm>
            <a:off x="8039100" y="290322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29710FE-8475-694E-333F-4B1CB6E7ABD5}"/>
              </a:ext>
            </a:extLst>
          </p:cNvPr>
          <p:cNvCxnSpPr>
            <a:cxnSpLocks/>
          </p:cNvCxnSpPr>
          <p:nvPr/>
        </p:nvCxnSpPr>
        <p:spPr>
          <a:xfrm>
            <a:off x="8039100" y="4419600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E6660B4-52DF-BB82-61B9-D9E505FCB695}"/>
              </a:ext>
            </a:extLst>
          </p:cNvPr>
          <p:cNvCxnSpPr>
            <a:cxnSpLocks/>
          </p:cNvCxnSpPr>
          <p:nvPr/>
        </p:nvCxnSpPr>
        <p:spPr>
          <a:xfrm>
            <a:off x="8039100" y="5757818"/>
            <a:ext cx="2918460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C191102-969B-EA88-C183-FBB37E1E867B}"/>
              </a:ext>
            </a:extLst>
          </p:cNvPr>
          <p:cNvSpPr txBox="1"/>
          <p:nvPr/>
        </p:nvSpPr>
        <p:spPr>
          <a:xfrm>
            <a:off x="343075" y="171758"/>
            <a:ext cx="2034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2024 </a:t>
            </a:r>
            <a:r>
              <a:rPr lang="ko-KR" altLang="en-US" sz="1600" b="1"/>
              <a:t>진행 프로젝트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324A51B-ADBE-AB2D-ADF2-74DCC86B3E55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169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9B6803-71DA-E807-1E3D-B46A5A5FEF5B}"/>
              </a:ext>
            </a:extLst>
          </p:cNvPr>
          <p:cNvSpPr txBox="1"/>
          <p:nvPr/>
        </p:nvSpPr>
        <p:spPr>
          <a:xfrm>
            <a:off x="2133600" y="1287482"/>
            <a:ext cx="168507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메디게이트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개원입지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간호초빙</a:t>
            </a:r>
            <a:endParaRPr lang="en-US" altLang="ko-KR"/>
          </a:p>
          <a:p>
            <a:pPr marL="342900" indent="-342900">
              <a:buAutoNum type="arabicPeriod"/>
            </a:pPr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FE024-DE8A-7025-FE09-D484F427D7E9}"/>
              </a:ext>
            </a:extLst>
          </p:cNvPr>
          <p:cNvSpPr txBox="1"/>
          <p:nvPr/>
        </p:nvSpPr>
        <p:spPr>
          <a:xfrm>
            <a:off x="4465320" y="5104845"/>
            <a:ext cx="486918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인수인계 및 유지보수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위치기반서비스 신고 승인</a:t>
            </a:r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0C2805-7963-E6A1-7A98-D0779FC70E78}"/>
              </a:ext>
            </a:extLst>
          </p:cNvPr>
          <p:cNvSpPr txBox="1"/>
          <p:nvPr/>
        </p:nvSpPr>
        <p:spPr>
          <a:xfrm>
            <a:off x="4465320" y="3340666"/>
            <a:ext cx="486918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지속적인 고도화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데이터 정기 업데이트</a:t>
            </a:r>
            <a:endParaRPr lang="en-US" altLang="ko-K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C8D367-40B2-E768-2937-3424F0FFF6E1}"/>
              </a:ext>
            </a:extLst>
          </p:cNvPr>
          <p:cNvSpPr txBox="1"/>
          <p:nvPr/>
        </p:nvSpPr>
        <p:spPr>
          <a:xfrm>
            <a:off x="4465320" y="1143000"/>
            <a:ext cx="4869180" cy="1700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ko-KR"/>
              <a:t>PC </a:t>
            </a:r>
            <a:r>
              <a:rPr lang="ko-KR" altLang="en-US"/>
              <a:t>리뉴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회원정보 </a:t>
            </a:r>
            <a:r>
              <a:rPr lang="en-US" altLang="ko-KR"/>
              <a:t>Cleansing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알림 메시지 고도화</a:t>
            </a:r>
            <a:endParaRPr lang="en-US" altLang="ko-KR"/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ko-KR" altLang="en-US"/>
              <a:t>의사 자동 인증</a:t>
            </a:r>
            <a:endParaRPr lang="en-US" altLang="ko-K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F80730-B6DE-AA71-0024-EDF037E01BF7}"/>
              </a:ext>
            </a:extLst>
          </p:cNvPr>
          <p:cNvSpPr txBox="1"/>
          <p:nvPr/>
        </p:nvSpPr>
        <p:spPr>
          <a:xfrm>
            <a:off x="343075" y="171758"/>
            <a:ext cx="22557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/>
              <a:t>2025 </a:t>
            </a:r>
            <a:r>
              <a:rPr lang="ko-KR" altLang="en-US" sz="1600" b="1"/>
              <a:t>프로젝트 </a:t>
            </a:r>
            <a:r>
              <a:rPr lang="en-US" altLang="ko-KR" sz="1600" b="1"/>
              <a:t>(</a:t>
            </a:r>
            <a:r>
              <a:rPr lang="ko-KR" altLang="en-US" sz="1600" b="1"/>
              <a:t>미정</a:t>
            </a:r>
            <a:r>
              <a:rPr lang="en-US" altLang="ko-KR" sz="1600" b="1"/>
              <a:t>)</a:t>
            </a:r>
            <a:endParaRPr lang="ko-KR" altLang="en-US" sz="1600" b="1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89080ED-3464-D977-20E8-9BB6E6E30CA8}"/>
              </a:ext>
            </a:extLst>
          </p:cNvPr>
          <p:cNvCxnSpPr>
            <a:cxnSpLocks/>
          </p:cNvCxnSpPr>
          <p:nvPr/>
        </p:nvCxnSpPr>
        <p:spPr>
          <a:xfrm>
            <a:off x="0" y="640566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797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DCF268-F8D0-94A8-8C9B-2530B4A18FE1}"/>
              </a:ext>
            </a:extLst>
          </p:cNvPr>
          <p:cNvSpPr txBox="1"/>
          <p:nvPr/>
        </p:nvSpPr>
        <p:spPr>
          <a:xfrm>
            <a:off x="5234225" y="319816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chemeClr val="tx1">
                    <a:lumMod val="85000"/>
                    <a:lumOff val="15000"/>
                  </a:schemeClr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2896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69425</TotalTime>
  <Words>864</Words>
  <Application>Microsoft Office PowerPoint</Application>
  <PresentationFormat>와이드스크린</PresentationFormat>
  <Paragraphs>332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현성 정</dc:creator>
  <cp:lastModifiedBy>현성 정</cp:lastModifiedBy>
  <cp:revision>3381</cp:revision>
  <cp:lastPrinted>2024-05-29T00:33:16Z</cp:lastPrinted>
  <dcterms:created xsi:type="dcterms:W3CDTF">2024-04-03T04:55:43Z</dcterms:created>
  <dcterms:modified xsi:type="dcterms:W3CDTF">2025-01-10T04:28:18Z</dcterms:modified>
</cp:coreProperties>
</file>